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大家好，今天我们来聊一个很多一楼业主都会遇到的痛点——墙面返潮发霉。这份方案将提供一套完整的、从外墙到内墙的系统性防水解决方案，让你告别反复维修的烦恼。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动手之前，我们先搞清楚你家墙面到底是哪种类型的潮湿。一楼墙面最常见的是地下毛细渗透——墙根30厘米内起皮、鼓包、发霉，这是地下水汽顺着墙体毛细孔往上爬的结果。其次是冷凝结露，梅雨季墙面挂水珠，像在流泪一样。还有外墙渗漏和管道串水两种情况。现实往往是前两种叠加，所以需要综合治理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来看我们的核心思路：先外后内，双管齐下。方案二是外墙正水面防水，从源头阻断水源，大概一到两天完工，优先级最高。方案一是内墙背水面综合治理，七步施工，需要五到七天。记住一个关键原则：外墙不处理好就直接做内墙，等于白做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方案二具体怎么操作呢？三步走。第一步，清洁外墙表面，用高压水枪冲洗污垢，有裂缝的地方用水泥砂浆填补。第二步，涂刷丙烯酸弹性防水涂料两遍，间隔四到六小时。第三步最关键——墙角与地面的交接处要向上翻起二十到三十厘米，形成整体密封。材料方面，京东搜东方雨虹HCA121就能找到官方店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外墙做完之后，我们来看内墙的七步施工法。从铲除霉变层开始，然后是杀菌消毒、基层封闭，接下来是核心工序——涂刷渗透结晶防水涂料两遍，养护四十八小时。之后批刮N型耐水腻子两遍，再上抗碱底漆和防霉面漆。这里必须强调：腻子一定要用N型水泥基耐水腻子，普通石膏基腻子遇潮就粉化，整个工程白做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表是你采购时的完整清单，按一百平方米墙面计算。从八四消毒液到防霉乳胶漆，每种材料的用量、用法要诀、推荐品牌和京东搜索关键词都列清楚了。材料费总计大约两千五到四千元。建议直接在京东或天猫的品牌旗舰店购买，认准官方防伪标识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种关键材料我单独强调一下。水泥基渗透结晶防水涂料是核心中的核心，粉和水的比例约一比零点三，横竖交叉涂两遍，总厚度至少一点五毫米，养护四十八小时。N型耐水腻子一定要认准包装上的N型标识，保质期只有十二个月。丙烯酸弹性涂料开桶即用，外墙施工温度不能低于五度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看预算。材料费分四大块：外墙防水材料八百到一千五，内墙基层处理五百到八百，防水涂料六百到一千，腻子加漆面六百到一千二，总计两千五到四千元。人工费大约是材料费的一到一点五倍，所以总预算在五千到一万元之间。品牌方面，防水涂料推荐东方雨虹和德高，腻子推荐美巢，乳胶漆推荐多乐士和立邦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施工做完了，日常维护同样重要。三个好习惯：第一，南方一楼必备除湿机，湿度超过百分之六十五就开。第二，晴天中午大通风，但阴雨天一定要紧闭门窗——这个很多人做反了。第三，家具离墙五到十厘米，留出通风间隙。最后还有五个最常见的避坑提醒，每一条都是用教训换来的经验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五个核心要点：诊断先行，搞清楚潮湿类型再动手；先外后内，外墙防水优先；材料关键，N型腻子是底线，渗透结晶是核心；习惯辅助，除湿机和正确通风必不可少。最重要的一个认知就是——好的防水是系统工程，不是一瓶涂料能解决的。祝施工顺利，墙面干爽，家更舒适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F8B"/>
              </a:gs>
              <a:gs pos="50000">
                <a:srgbClr val="07355E"/>
              </a:gs>
              <a:gs pos="100000">
                <a:srgbClr val="0D4F8B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891B2">
                  <a:alpha val="20000"/>
                </a:srgbClr>
              </a:gs>
              <a:gs pos="100000">
                <a:srgbClr val="07355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0" y="3048000"/>
            <a:ext cx="12192000" cy="952500"/>
          </a:xfrm>
          <a:custGeom>
            <a:avLst/>
            <a:gdLst/>
            <a:ahLst/>
            <a:cxnLst/>
            <a:rect l="l" t="t" r="r" b="b"/>
            <a:pathLst>
              <a:path w="12192000" h="952500">
                <a:moveTo>
                  <a:pt x="0" y="95250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0891B2">
                <a:alpha val="25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3238500"/>
            <a:ext cx="12192000" cy="952500"/>
          </a:xfrm>
          <a:custGeom>
            <a:avLst/>
            <a:gdLst/>
            <a:ahLst/>
            <a:cxnLst/>
            <a:rect l="l" t="t" r="r" b="b"/>
            <a:pathLst>
              <a:path w="12192000" h="952500">
                <a:moveTo>
                  <a:pt x="0" y="95250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8612C">
                <a:alpha val="15000"/>
              </a:srgbClr>
            </a:solidFill>
          </a:ln>
        </p:spPr>
      </p:sp>
      <p:sp>
        <p:nvSpPr>
          <p:cNvPr id="6" name="Rectangle 6"/>
          <p:cNvSpPr/>
          <p:nvPr/>
        </p:nvSpPr>
        <p:spPr>
          <a:xfrm>
            <a:off x="0" y="4191000"/>
            <a:ext cx="12192000" cy="2667000"/>
          </a:xfrm>
          <a:prstGeom prst="rect">
            <a:avLst/>
          </a:prstGeom>
          <a:gradFill>
            <a:gsLst>
              <a:gs pos="0">
                <a:srgbClr val="0D4F8B">
                  <a:alpha val="0"/>
                </a:srgbClr>
              </a:gs>
              <a:gs pos="100000">
                <a:srgbClr val="041E33">
                  <a:alpha val="85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6096000" y="2686050"/>
            <a:ext cx="762000" cy="4762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612C"/>
              </a:gs>
              <a:gs pos="100000">
                <a:srgbClr val="F0854D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628299" y="1895475"/>
            <a:ext cx="8935402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FFFFFF"/>
                </a:solidFill>
                <a:effectLst>
                  <a:glow rad="38100">
                    <a:srgbClr val="FFFFFF">
                      <a:alpha val="15000"/>
                    </a:srgbClr>
                  </a:glow>
                </a:effectLst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一楼墙面防潮防水综合治理方案</a:t>
            </a:r>
            <a:endParaRPr lang="zh-CN" sz="4500" b="1" dirty="0">
              <a:solidFill>
                <a:srgbClr val="FFFFFF"/>
              </a:solidFill>
              <a:effectLst>
                <a:glow rad="38100">
                  <a:srgbClr val="FFFFFF">
                    <a:alpha val="15000"/>
                  </a:srgbClr>
                </a:glow>
              </a:effectLst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Ellipse 11"/>
          <p:cNvSpPr/>
          <p:nvPr/>
        </p:nvSpPr>
        <p:spPr>
          <a:xfrm>
            <a:off x="1876425" y="1685925"/>
            <a:ext cx="57150" cy="57150"/>
          </a:xfrm>
          <a:prstGeom prst="ellipse">
            <a:avLst/>
          </a:prstGeom>
          <a:solidFill>
            <a:srgbClr val="0891B2">
              <a:alpha val="30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0248900" y="1390650"/>
            <a:ext cx="76200" cy="76200"/>
          </a:xfrm>
          <a:prstGeom prst="ellipse">
            <a:avLst/>
          </a:prstGeom>
          <a:solidFill>
            <a:srgbClr val="E8612C">
              <a:alpha val="20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409700" y="4743450"/>
            <a:ext cx="38100" cy="3810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0925175" y="5210175"/>
            <a:ext cx="57150" cy="57150"/>
          </a:xfrm>
          <a:prstGeom prst="ellipse">
            <a:avLst/>
          </a:prstGeom>
          <a:solidFill>
            <a:srgbClr val="0891B2">
              <a:alpha val="15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959007" y="653081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3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 / 10</a:t>
            </a:r>
            <a:endParaRPr lang="zh-CN" sz="825" dirty="0">
              <a:solidFill>
                <a:srgbClr val="FFFFFF">
                  <a:alphaMod val="3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F8B">
                  <a:alpha val="4000"/>
                </a:srgbClr>
              </a:gs>
              <a:gs pos="100000">
                <a:srgbClr val="0D4F8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0D4F8B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1020" y="312420"/>
            <a:ext cx="2522855" cy="3689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D4F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四种墙面潮湿类型</a:t>
            </a:r>
            <a:endParaRPr lang="zh-CN" sz="2400" b="1" dirty="0">
              <a:solidFill>
                <a:srgbClr val="0D4F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8165" y="743902"/>
            <a:ext cx="36881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一楼墙面通常是「毛细渗透 + 冷凝结露」叠加，需综合治理</a:t>
            </a:r>
            <a:endParaRPr lang="zh-CN" sz="105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571500" y="1143000"/>
            <a:ext cx="5334000" cy="2476500"/>
            <a:chOff x="571500" y="1143000"/>
            <a:chExt cx="5334000" cy="24765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5334000" cy="24765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>
              <a:solidFill>
                <a:srgbClr val="D0D8E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43000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E8612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171575"/>
              <a:ext cx="5334000" cy="28575"/>
            </a:xfrm>
            <a:prstGeom prst="rect">
              <a:avLst/>
            </a:prstGeom>
            <a:solidFill>
              <a:srgbClr val="E8612C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962025" y="1485900"/>
              <a:ext cx="285750" cy="381000"/>
            </a:xfrm>
            <a:custGeom>
              <a:avLst/>
              <a:gdLst/>
              <a:ahLst/>
              <a:cxnLst/>
              <a:rect l="l" t="t" r="r" b="b"/>
              <a:pathLst>
                <a:path w="285750" h="381000">
                  <a:moveTo>
                    <a:pt x="119062" y="0"/>
                  </a:moveTo>
                  <a:lnTo>
                    <a:pt x="22503" y="154496"/>
                  </a:lnTo>
                  <a:cubicBezTo>
                    <a:pt x="7797" y="178024"/>
                    <a:pt x="0" y="205212"/>
                    <a:pt x="0" y="232958"/>
                  </a:cubicBezTo>
                  <a:lnTo>
                    <a:pt x="0" y="238125"/>
                  </a:lnTo>
                  <a:cubicBezTo>
                    <a:pt x="0" y="317032"/>
                    <a:pt x="63967" y="381000"/>
                    <a:pt x="142875" y="381000"/>
                  </a:cubicBezTo>
                  <a:cubicBezTo>
                    <a:pt x="221782" y="381000"/>
                    <a:pt x="285750" y="317032"/>
                    <a:pt x="285750" y="238125"/>
                  </a:cubicBezTo>
                  <a:lnTo>
                    <a:pt x="285750" y="232958"/>
                  </a:lnTo>
                  <a:cubicBezTo>
                    <a:pt x="285750" y="205212"/>
                    <a:pt x="277954" y="178024"/>
                    <a:pt x="263247" y="154496"/>
                  </a:cubicBezTo>
                  <a:lnTo>
                    <a:pt x="166688" y="0"/>
                  </a:lnTo>
                  <a:lnTo>
                    <a:pt x="119062" y="0"/>
                  </a:lnTo>
                  <a:close/>
                  <a:moveTo>
                    <a:pt x="190500" y="238125"/>
                  </a:moveTo>
                  <a:cubicBezTo>
                    <a:pt x="190500" y="264428"/>
                    <a:pt x="169178" y="285750"/>
                    <a:pt x="142875" y="285750"/>
                  </a:cubicBezTo>
                  <a:lnTo>
                    <a:pt x="142875" y="333375"/>
                  </a:lnTo>
                  <a:cubicBezTo>
                    <a:pt x="195479" y="333375"/>
                    <a:pt x="238125" y="290729"/>
                    <a:pt x="238125" y="238125"/>
                  </a:cubicBezTo>
                  <a:lnTo>
                    <a:pt x="190500" y="238125"/>
                  </a:lnTo>
                  <a:close/>
                </a:path>
              </a:pathLst>
            </a:custGeom>
            <a:solidFill>
              <a:srgbClr val="E8612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26845" y="144113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地下毛细渗透</a:t>
              </a:r>
              <a:endParaRPr lang="zh-CN" sz="16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35418" y="1742599"/>
              <a:ext cx="1844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地下水汽沿墙体毛细孔向上渗透</a:t>
              </a:r>
              <a:endPara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914400" y="2057400"/>
              <a:ext cx="4648200" cy="9525"/>
            </a:xfrm>
            <a:custGeom>
              <a:avLst/>
              <a:gdLst/>
              <a:ahLst/>
              <a:cxnLst/>
              <a:rect l="l" t="t" r="r" b="b"/>
              <a:pathLst>
                <a:path w="4648200" h="9525">
                  <a:moveTo>
                    <a:pt x="0" y="0"/>
                  </a:moveTo>
                  <a:lnTo>
                    <a:pt x="4648200" y="0"/>
                  </a:lnTo>
                </a:path>
              </a:pathLst>
            </a:custGeom>
            <a:noFill/>
            <a:ln w="9525">
              <a:solidFill>
                <a:srgbClr val="F0F4F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99160" y="2194560"/>
              <a:ext cx="18307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墙根30cm内起皮、鼓包</a:t>
              </a:r>
              <a:endParaRPr lang="zh-CN" sz="120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9160" y="2461260"/>
              <a:ext cx="9665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黑绿色霉斑</a:t>
              </a:r>
              <a:endParaRPr lang="zh-CN" sz="120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9160" y="2727960"/>
              <a:ext cx="27268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常见于一楼所有靠外墙和内隔墙底部</a:t>
              </a:r>
              <a:endParaRPr lang="zh-CN" sz="120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14400" y="3067050"/>
              <a:ext cx="762000" cy="228600"/>
            </a:xfrm>
            <a:prstGeom prst="roundRect">
              <a:avLst>
                <a:gd name="adj" fmla="val 50000"/>
              </a:avLst>
            </a:prstGeom>
            <a:solidFill>
              <a:srgbClr val="E8612C">
                <a:alpha val="1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94946" y="3131820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612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最常见</a:t>
              </a:r>
              <a:endParaRPr lang="zh-CN" sz="900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86500" y="1143000"/>
            <a:ext cx="5334000" cy="2476500"/>
            <a:chOff x="6286500" y="1143000"/>
            <a:chExt cx="5334000" cy="2476500"/>
          </a:xfrm>
        </p:grpSpPr>
        <p:sp>
          <p:nvSpPr>
            <p:cNvPr id="20" name="Rectangle 20"/>
            <p:cNvSpPr/>
            <p:nvPr/>
          </p:nvSpPr>
          <p:spPr>
            <a:xfrm>
              <a:off x="6286500" y="1143000"/>
              <a:ext cx="5334000" cy="24765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>
              <a:solidFill>
                <a:srgbClr val="D0D8E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86500" y="1143000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0891B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86500" y="1171575"/>
              <a:ext cx="5334000" cy="28575"/>
            </a:xfrm>
            <a:prstGeom prst="rect">
              <a:avLst/>
            </a:prstGeom>
            <a:solidFill>
              <a:srgbClr val="0891B2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6629400" y="14859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190500"/>
                  </a:moveTo>
                  <a:cubicBezTo>
                    <a:pt x="381000" y="295711"/>
                    <a:pt x="295711" y="381000"/>
                    <a:pt x="190500" y="381000"/>
                  </a:cubicBezTo>
                  <a:cubicBezTo>
                    <a:pt x="85290" y="381000"/>
                    <a:pt x="0" y="295711"/>
                    <a:pt x="0" y="190500"/>
                  </a:cubicBezTo>
                  <a:cubicBezTo>
                    <a:pt x="0" y="85290"/>
                    <a:pt x="85290" y="0"/>
                    <a:pt x="190500" y="0"/>
                  </a:cubicBezTo>
                  <a:cubicBezTo>
                    <a:pt x="295711" y="0"/>
                    <a:pt x="381000" y="85290"/>
                    <a:pt x="381000" y="190500"/>
                  </a:cubicBezTo>
                  <a:close/>
                  <a:moveTo>
                    <a:pt x="166688" y="190500"/>
                  </a:moveTo>
                  <a:lnTo>
                    <a:pt x="142875" y="190500"/>
                  </a:lnTo>
                  <a:lnTo>
                    <a:pt x="142875" y="142875"/>
                  </a:lnTo>
                  <a:lnTo>
                    <a:pt x="214312" y="142875"/>
                  </a:lnTo>
                  <a:lnTo>
                    <a:pt x="214312" y="261938"/>
                  </a:lnTo>
                  <a:lnTo>
                    <a:pt x="238125" y="261938"/>
                  </a:lnTo>
                  <a:lnTo>
                    <a:pt x="238125" y="309562"/>
                  </a:lnTo>
                  <a:lnTo>
                    <a:pt x="166688" y="309562"/>
                  </a:lnTo>
                  <a:lnTo>
                    <a:pt x="166688" y="190500"/>
                  </a:lnTo>
                  <a:close/>
                  <a:moveTo>
                    <a:pt x="214312" y="119062"/>
                  </a:moveTo>
                  <a:lnTo>
                    <a:pt x="214312" y="71438"/>
                  </a:lnTo>
                  <a:lnTo>
                    <a:pt x="166688" y="71438"/>
                  </a:lnTo>
                  <a:lnTo>
                    <a:pt x="166688" y="119062"/>
                  </a:lnTo>
                  <a:lnTo>
                    <a:pt x="214312" y="119062"/>
                  </a:lnTo>
                  <a:close/>
                </a:path>
              </a:pathLst>
            </a:custGeom>
            <a:solidFill>
              <a:srgbClr val="0891B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41845" y="1441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冷凝结露</a:t>
              </a:r>
              <a:endParaRPr lang="zh-CN" sz="16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50418" y="17425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暖湿空气遇到温度较低的墙体表面结露</a:t>
              </a:r>
              <a:endPara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6629400" y="2057400"/>
              <a:ext cx="4648200" cy="9525"/>
            </a:xfrm>
            <a:custGeom>
              <a:avLst/>
              <a:gdLst/>
              <a:ahLst/>
              <a:cxnLst/>
              <a:rect l="l" t="t" r="r" b="b"/>
              <a:pathLst>
                <a:path w="4648200" h="9525">
                  <a:moveTo>
                    <a:pt x="0" y="0"/>
                  </a:moveTo>
                  <a:lnTo>
                    <a:pt x="4648200" y="0"/>
                  </a:lnTo>
                </a:path>
              </a:pathLst>
            </a:custGeom>
            <a:noFill/>
            <a:ln w="9525">
              <a:solidFill>
                <a:srgbClr val="F0F4F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14160" y="2194560"/>
              <a:ext cx="21027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全墙挂水珠，像"流泪"一样</a:t>
              </a:r>
              <a:endParaRPr lang="zh-CN" sz="120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14160" y="24612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梅雨季 / 回南天严重</a:t>
              </a:r>
              <a:endParaRPr lang="zh-CN" sz="120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14160" y="2727960"/>
              <a:ext cx="19267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通风差的房间、北向墙面</a:t>
              </a:r>
              <a:endParaRPr lang="zh-CN" sz="120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3905250"/>
            <a:ext cx="5334000" cy="2476500"/>
            <a:chOff x="571500" y="3905250"/>
            <a:chExt cx="5334000" cy="2476500"/>
          </a:xfrm>
        </p:grpSpPr>
        <p:sp>
          <p:nvSpPr>
            <p:cNvPr id="31" name="Rectangle 31"/>
            <p:cNvSpPr/>
            <p:nvPr/>
          </p:nvSpPr>
          <p:spPr>
            <a:xfrm>
              <a:off x="571500" y="3905250"/>
              <a:ext cx="5334000" cy="24765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>
              <a:solidFill>
                <a:srgbClr val="D0D8E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71500" y="3905250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0D4F8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71500" y="3933825"/>
              <a:ext cx="5334000" cy="28575"/>
            </a:xfrm>
            <a:prstGeom prst="rect">
              <a:avLst/>
            </a:prstGeom>
            <a:solidFill>
              <a:srgbClr val="0D4F8B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962025" y="4248150"/>
              <a:ext cx="285750" cy="381000"/>
            </a:xfrm>
            <a:custGeom>
              <a:avLst/>
              <a:gdLst/>
              <a:ahLst/>
              <a:cxnLst/>
              <a:rect l="l" t="t" r="r" b="b"/>
              <a:pathLst>
                <a:path w="285750" h="381000">
                  <a:moveTo>
                    <a:pt x="28575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95250" y="381000"/>
                  </a:lnTo>
                  <a:lnTo>
                    <a:pt x="95250" y="285750"/>
                  </a:lnTo>
                  <a:lnTo>
                    <a:pt x="190500" y="285750"/>
                  </a:lnTo>
                  <a:lnTo>
                    <a:pt x="190500" y="381000"/>
                  </a:lnTo>
                  <a:lnTo>
                    <a:pt x="285750" y="381000"/>
                  </a:lnTo>
                  <a:lnTo>
                    <a:pt x="285750" y="0"/>
                  </a:lnTo>
                  <a:close/>
                  <a:moveTo>
                    <a:pt x="71438" y="71438"/>
                  </a:moveTo>
                  <a:lnTo>
                    <a:pt x="119062" y="71438"/>
                  </a:lnTo>
                  <a:lnTo>
                    <a:pt x="119062" y="119062"/>
                  </a:lnTo>
                  <a:lnTo>
                    <a:pt x="71438" y="119062"/>
                  </a:lnTo>
                  <a:lnTo>
                    <a:pt x="71438" y="71438"/>
                  </a:lnTo>
                  <a:close/>
                  <a:moveTo>
                    <a:pt x="119062" y="166688"/>
                  </a:moveTo>
                  <a:lnTo>
                    <a:pt x="71438" y="166688"/>
                  </a:lnTo>
                  <a:lnTo>
                    <a:pt x="71438" y="214312"/>
                  </a:lnTo>
                  <a:lnTo>
                    <a:pt x="119062" y="214312"/>
                  </a:lnTo>
                  <a:lnTo>
                    <a:pt x="119062" y="166688"/>
                  </a:lnTo>
                  <a:close/>
                  <a:moveTo>
                    <a:pt x="166688" y="71438"/>
                  </a:moveTo>
                  <a:lnTo>
                    <a:pt x="214312" y="71438"/>
                  </a:lnTo>
                  <a:lnTo>
                    <a:pt x="214312" y="119062"/>
                  </a:lnTo>
                  <a:lnTo>
                    <a:pt x="166688" y="119062"/>
                  </a:lnTo>
                  <a:lnTo>
                    <a:pt x="166688" y="71438"/>
                  </a:lnTo>
                  <a:close/>
                  <a:moveTo>
                    <a:pt x="214312" y="166688"/>
                  </a:moveTo>
                  <a:lnTo>
                    <a:pt x="166688" y="166688"/>
                  </a:lnTo>
                  <a:lnTo>
                    <a:pt x="166688" y="214312"/>
                  </a:lnTo>
                  <a:lnTo>
                    <a:pt x="214312" y="214312"/>
                  </a:lnTo>
                  <a:lnTo>
                    <a:pt x="214312" y="166688"/>
                  </a:lnTo>
                  <a:close/>
                </a:path>
              </a:pathLst>
            </a:custGeom>
            <a:solidFill>
              <a:srgbClr val="0D4F8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426845" y="4203065"/>
              <a:ext cx="2818765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外墙渗漏</a:t>
              </a:r>
              <a:r>
                <a:rPr lang="zh-CN" sz="9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（舅妈您可能是这种情况</a:t>
              </a:r>
              <a:r>
                <a:rPr lang="zh-CN" sz="8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）</a:t>
              </a:r>
              <a:endParaRPr lang="zh-CN" sz="8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35418" y="450484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外墙防水层破损或裂缝导致雨水渗入</a:t>
              </a:r>
              <a:endPara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Line 37"/>
            <p:cNvSpPr/>
            <p:nvPr/>
          </p:nvSpPr>
          <p:spPr>
            <a:xfrm>
              <a:off x="914400" y="4819650"/>
              <a:ext cx="4648200" cy="9525"/>
            </a:xfrm>
            <a:custGeom>
              <a:avLst/>
              <a:gdLst/>
              <a:ahLst/>
              <a:cxnLst/>
              <a:rect l="l" t="t" r="r" b="b"/>
              <a:pathLst>
                <a:path w="4648200" h="9525">
                  <a:moveTo>
                    <a:pt x="0" y="0"/>
                  </a:moveTo>
                  <a:lnTo>
                    <a:pt x="4648200" y="0"/>
                  </a:lnTo>
                </a:path>
              </a:pathLst>
            </a:custGeom>
            <a:noFill/>
            <a:ln w="9525">
              <a:solidFill>
                <a:srgbClr val="F0F4F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9160" y="4956810"/>
              <a:ext cx="16066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雨天加重，渗水集中</a:t>
              </a:r>
              <a:endParaRPr lang="zh-CN" sz="120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9160" y="5223510"/>
              <a:ext cx="12866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有明显水流痕迹</a:t>
              </a:r>
              <a:endParaRPr lang="zh-CN" sz="120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9160" y="5490210"/>
              <a:ext cx="17666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迎风面外墙、窗框周围</a:t>
              </a:r>
              <a:endParaRPr lang="zh-CN" sz="120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86500" y="3905250"/>
            <a:ext cx="5334000" cy="2476500"/>
            <a:chOff x="6286500" y="3905250"/>
            <a:chExt cx="5334000" cy="2476500"/>
          </a:xfrm>
        </p:grpSpPr>
        <p:sp>
          <p:nvSpPr>
            <p:cNvPr id="42" name="Rectangle 42"/>
            <p:cNvSpPr/>
            <p:nvPr/>
          </p:nvSpPr>
          <p:spPr>
            <a:xfrm>
              <a:off x="6286500" y="3905250"/>
              <a:ext cx="5334000" cy="24765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>
              <a:solidFill>
                <a:srgbClr val="D0D8E0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86500" y="3905250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5B6E7D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86500" y="3933825"/>
              <a:ext cx="5334000" cy="28575"/>
            </a:xfrm>
            <a:prstGeom prst="rect">
              <a:avLst/>
            </a:prstGeom>
            <a:solidFill>
              <a:srgbClr val="5B6E7D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6629400" y="42481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238125" y="83344"/>
                  </a:moveTo>
                  <a:lnTo>
                    <a:pt x="310946" y="10522"/>
                  </a:lnTo>
                  <a:cubicBezTo>
                    <a:pt x="295999" y="3763"/>
                    <a:pt x="279409" y="0"/>
                    <a:pt x="261938" y="0"/>
                  </a:cubicBezTo>
                  <a:cubicBezTo>
                    <a:pt x="196181" y="0"/>
                    <a:pt x="142875" y="53306"/>
                    <a:pt x="142875" y="119062"/>
                  </a:cubicBezTo>
                  <a:cubicBezTo>
                    <a:pt x="142875" y="129969"/>
                    <a:pt x="144341" y="140533"/>
                    <a:pt x="147088" y="150568"/>
                  </a:cubicBezTo>
                  <a:lnTo>
                    <a:pt x="0" y="297656"/>
                  </a:lnTo>
                  <a:lnTo>
                    <a:pt x="83344" y="381000"/>
                  </a:lnTo>
                  <a:lnTo>
                    <a:pt x="230432" y="233912"/>
                  </a:lnTo>
                  <a:cubicBezTo>
                    <a:pt x="240466" y="236659"/>
                    <a:pt x="251031" y="238125"/>
                    <a:pt x="261938" y="238125"/>
                  </a:cubicBezTo>
                  <a:cubicBezTo>
                    <a:pt x="327693" y="238125"/>
                    <a:pt x="381000" y="184819"/>
                    <a:pt x="381000" y="119062"/>
                  </a:cubicBezTo>
                  <a:cubicBezTo>
                    <a:pt x="381000" y="101592"/>
                    <a:pt x="377238" y="85000"/>
                    <a:pt x="370477" y="70054"/>
                  </a:cubicBezTo>
                  <a:lnTo>
                    <a:pt x="297656" y="142875"/>
                  </a:lnTo>
                  <a:lnTo>
                    <a:pt x="238125" y="142875"/>
                  </a:lnTo>
                  <a:lnTo>
                    <a:pt x="238125" y="83344"/>
                  </a:lnTo>
                  <a:close/>
                </a:path>
              </a:pathLst>
            </a:custGeom>
            <a:solidFill>
              <a:srgbClr val="5B6E7D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41845" y="4203382"/>
              <a:ext cx="238685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管道渗漏 / 卫生间串水</a:t>
              </a:r>
              <a:endParaRPr lang="zh-CN" sz="16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50418" y="450484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水管微漏或卫生间防水失效</a:t>
              </a:r>
              <a:endPara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Line 48"/>
            <p:cNvSpPr/>
            <p:nvPr/>
          </p:nvSpPr>
          <p:spPr>
            <a:xfrm>
              <a:off x="6629400" y="4819650"/>
              <a:ext cx="4648200" cy="9525"/>
            </a:xfrm>
            <a:custGeom>
              <a:avLst/>
              <a:gdLst/>
              <a:ahLst/>
              <a:cxnLst/>
              <a:rect l="l" t="t" r="r" b="b"/>
              <a:pathLst>
                <a:path w="4648200" h="9525">
                  <a:moveTo>
                    <a:pt x="0" y="0"/>
                  </a:moveTo>
                  <a:lnTo>
                    <a:pt x="4648200" y="0"/>
                  </a:lnTo>
                </a:path>
              </a:pathLst>
            </a:custGeom>
            <a:noFill/>
            <a:ln w="9525">
              <a:solidFill>
                <a:srgbClr val="F0F4F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14160" y="4956810"/>
              <a:ext cx="25667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只集中在厨卫相邻墙面或管道附近</a:t>
              </a:r>
              <a:endParaRPr lang="zh-CN" sz="120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14160" y="5223510"/>
              <a:ext cx="16066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卫生间门口两侧常见</a:t>
              </a:r>
              <a:endParaRPr lang="zh-CN" sz="120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14160" y="5490210"/>
              <a:ext cx="14466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厨房下水管道周围</a:t>
              </a:r>
              <a:endParaRPr lang="zh-CN" sz="120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1329487" y="6530816"/>
            <a:ext cx="3014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 / 10</a:t>
            </a:r>
            <a:endParaRPr lang="zh-CN" sz="825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0" grpId="0"/>
      <p:bldP spid="41" grpId="0"/>
      <p:bldP spid="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0D4F8B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312420"/>
            <a:ext cx="476554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D4F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治水之道：先</a:t>
            </a:r>
            <a:r>
              <a:rPr lang="zh-CN" sz="2400" b="1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外</a:t>
            </a:r>
            <a:r>
              <a:rPr lang="zh-CN" sz="2400" b="1" dirty="0">
                <a:solidFill>
                  <a:srgbClr val="0D4F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后</a:t>
            </a:r>
            <a:r>
              <a:rPr lang="zh-CN" sz="2400" b="1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内</a:t>
            </a:r>
            <a:r>
              <a:rPr lang="zh-CN" sz="2400" b="1" dirty="0">
                <a:solidFill>
                  <a:srgbClr val="0D4F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，双管齐下</a:t>
            </a:r>
            <a:endParaRPr lang="zh-CN" sz="2400" b="1" dirty="0">
              <a:solidFill>
                <a:srgbClr val="0D4F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58165" y="743902"/>
            <a:ext cx="42481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外墙优先阻断水源 → 内墙跟进巩固防线，内外兼治才能彻底解决问题</a:t>
            </a:r>
            <a:endParaRPr lang="zh-CN" sz="105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5286375" cy="5238750"/>
          </a:xfrm>
          <a:prstGeom prst="roundRect">
            <a:avLst>
              <a:gd name="adj" fmla="val 2182"/>
            </a:avLst>
          </a:prstGeom>
          <a:solidFill>
            <a:srgbClr val="F0F4F8"/>
          </a:solidFill>
          <a:ln w="9525">
            <a:solidFill>
              <a:srgbClr val="D0D8E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286375" cy="533400"/>
          </a:xfrm>
          <a:prstGeom prst="roundRect">
            <a:avLst>
              <a:gd name="adj" fmla="val 21429"/>
            </a:avLst>
          </a:prstGeom>
          <a:gradFill>
            <a:gsLst>
              <a:gs pos="0">
                <a:srgbClr val="0D4F8B"/>
              </a:gs>
              <a:gs pos="100000">
                <a:srgbClr val="07355E"/>
              </a:gs>
            </a:gsLst>
            <a:lin ang="2700000" scaled="1"/>
          </a:gra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62100"/>
            <a:ext cx="5286375" cy="114300"/>
          </a:xfrm>
          <a:prstGeom prst="rect">
            <a:avLst/>
          </a:prstGeom>
          <a:gradFill>
            <a:gsLst>
              <a:gs pos="0">
                <a:srgbClr val="0D4F8B"/>
              </a:gs>
              <a:gs pos="100000">
                <a:srgbClr val="07355E"/>
              </a:gs>
            </a:gsLst>
            <a:lin ang="2700000" scaled="1"/>
          </a:gra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900112" y="1276350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257175" y="0"/>
                </a:moveTo>
                <a:lnTo>
                  <a:pt x="0" y="0"/>
                </a:lnTo>
                <a:lnTo>
                  <a:pt x="0" y="342900"/>
                </a:lnTo>
                <a:lnTo>
                  <a:pt x="85725" y="342900"/>
                </a:lnTo>
                <a:lnTo>
                  <a:pt x="85725" y="257175"/>
                </a:lnTo>
                <a:lnTo>
                  <a:pt x="171450" y="257175"/>
                </a:lnTo>
                <a:lnTo>
                  <a:pt x="171450" y="342900"/>
                </a:lnTo>
                <a:lnTo>
                  <a:pt x="257175" y="342900"/>
                </a:lnTo>
                <a:lnTo>
                  <a:pt x="257175" y="0"/>
                </a:lnTo>
                <a:close/>
                <a:moveTo>
                  <a:pt x="64294" y="64294"/>
                </a:moveTo>
                <a:lnTo>
                  <a:pt x="107156" y="64294"/>
                </a:lnTo>
                <a:lnTo>
                  <a:pt x="107156" y="107156"/>
                </a:lnTo>
                <a:lnTo>
                  <a:pt x="64294" y="107156"/>
                </a:lnTo>
                <a:lnTo>
                  <a:pt x="64294" y="64294"/>
                </a:lnTo>
                <a:close/>
                <a:moveTo>
                  <a:pt x="107156" y="150019"/>
                </a:moveTo>
                <a:lnTo>
                  <a:pt x="64294" y="150019"/>
                </a:lnTo>
                <a:lnTo>
                  <a:pt x="64294" y="192881"/>
                </a:lnTo>
                <a:lnTo>
                  <a:pt x="107156" y="192881"/>
                </a:lnTo>
                <a:lnTo>
                  <a:pt x="107156" y="150019"/>
                </a:lnTo>
                <a:close/>
                <a:moveTo>
                  <a:pt x="150019" y="64294"/>
                </a:moveTo>
                <a:lnTo>
                  <a:pt x="192881" y="64294"/>
                </a:lnTo>
                <a:lnTo>
                  <a:pt x="192881" y="107156"/>
                </a:lnTo>
                <a:lnTo>
                  <a:pt x="150019" y="107156"/>
                </a:lnTo>
                <a:lnTo>
                  <a:pt x="150019" y="64294"/>
                </a:lnTo>
                <a:close/>
                <a:moveTo>
                  <a:pt x="192881" y="150019"/>
                </a:moveTo>
                <a:lnTo>
                  <a:pt x="150019" y="150019"/>
                </a:lnTo>
                <a:lnTo>
                  <a:pt x="150019" y="192881"/>
                </a:lnTo>
                <a:lnTo>
                  <a:pt x="192881" y="192881"/>
                </a:lnTo>
                <a:lnTo>
                  <a:pt x="192881" y="1500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310640" y="1234440"/>
            <a:ext cx="25146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第一步：</a:t>
            </a:r>
            <a:r>
              <a:rPr lang="zh-CN" sz="1800" b="1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外墙</a:t>
            </a:r>
            <a:r>
              <a: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正水面防水</a:t>
            </a:r>
            <a:endParaRPr lang="zh-CN" sz="18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21118" y="1513999"/>
            <a:ext cx="16044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优先执行 — 从源头阻断水源</a:t>
            </a:r>
            <a:endParaRPr lang="zh-CN" sz="975" dirty="0">
              <a:solidFill>
                <a:srgbClr val="FFFFFF">
                  <a:alphaMod val="8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Rectangle 12"/>
          <p:cNvSpPr/>
          <p:nvPr/>
        </p:nvSpPr>
        <p:spPr>
          <a:xfrm>
            <a:off x="4905375" y="1257300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004371" y="1333024"/>
            <a:ext cx="5640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★★★ 优先</a:t>
            </a:r>
            <a:endParaRPr lang="zh-CN" sz="9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838200" y="1981200"/>
            <a:ext cx="3036649" cy="2043112"/>
            <a:chOff x="838200" y="1981200"/>
            <a:chExt cx="3036649" cy="2043112"/>
          </a:xfrm>
        </p:grpSpPr>
        <p:sp>
          <p:nvSpPr>
            <p:cNvPr id="14" name="Ellipse 14"/>
            <p:cNvSpPr/>
            <p:nvPr/>
          </p:nvSpPr>
          <p:spPr>
            <a:xfrm>
              <a:off x="838200" y="1981200"/>
              <a:ext cx="419100" cy="419100"/>
            </a:xfrm>
            <a:prstGeom prst="ellipse">
              <a:avLst/>
            </a:prstGeom>
            <a:solidFill>
              <a:srgbClr val="0D4F8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97196" y="2085975"/>
              <a:ext cx="1011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11605" y="2025968"/>
              <a:ext cx="21419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清洁外墙表面 + 修补裂缝</a:t>
              </a:r>
              <a:endParaRPr lang="zh-CN" sz="13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15415" y="2286952"/>
              <a:ext cx="24279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高压水枪冲洗污垢 / 水泥砂浆填补裂缝</a:t>
              </a:r>
              <a:endPara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Ellipse 18"/>
            <p:cNvSpPr/>
            <p:nvPr/>
          </p:nvSpPr>
          <p:spPr>
            <a:xfrm>
              <a:off x="838200" y="2743200"/>
              <a:ext cx="419100" cy="419100"/>
            </a:xfrm>
            <a:prstGeom prst="ellipse">
              <a:avLst/>
            </a:prstGeom>
            <a:solidFill>
              <a:srgbClr val="0D4F8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0943" y="284797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1605" y="2787968"/>
              <a:ext cx="24632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涂刷丙烯酸弹性防水涂料 2遍</a:t>
              </a:r>
              <a:endParaRPr lang="zh-CN" sz="13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15415" y="3048952"/>
              <a:ext cx="22109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间隔 4-6 小时 / 覆盖率 3-5 m²/kg</a:t>
              </a:r>
              <a:endPara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Ellipse 22"/>
            <p:cNvSpPr/>
            <p:nvPr/>
          </p:nvSpPr>
          <p:spPr>
            <a:xfrm>
              <a:off x="838200" y="3505200"/>
              <a:ext cx="419100" cy="419100"/>
            </a:xfrm>
            <a:prstGeom prst="ellipse">
              <a:avLst/>
            </a:prstGeom>
            <a:solidFill>
              <a:srgbClr val="0D4F8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70943" y="360997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11605" y="3549968"/>
              <a:ext cx="23025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墙角与地面交接处加强处理</a:t>
              </a:r>
              <a:endParaRPr lang="zh-CN" sz="13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15415" y="3810952"/>
              <a:ext cx="21759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向上翻起 20-30cm，形成整体密封</a:t>
              </a:r>
              <a:endPara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7" name="Rectangle 27"/>
          <p:cNvSpPr/>
          <p:nvPr/>
        </p:nvSpPr>
        <p:spPr>
          <a:xfrm>
            <a:off x="857250" y="4286250"/>
            <a:ext cx="47148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1047750" y="451485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104775" y="209550"/>
                </a:moveTo>
                <a:cubicBezTo>
                  <a:pt x="162641" y="209550"/>
                  <a:pt x="209550" y="162641"/>
                  <a:pt x="209550" y="104775"/>
                </a:cubicBezTo>
                <a:cubicBezTo>
                  <a:pt x="209550" y="46909"/>
                  <a:pt x="162641" y="0"/>
                  <a:pt x="104775" y="0"/>
                </a:cubicBezTo>
                <a:cubicBezTo>
                  <a:pt x="46909" y="0"/>
                  <a:pt x="0" y="46909"/>
                  <a:pt x="0" y="104775"/>
                </a:cubicBezTo>
                <a:cubicBezTo>
                  <a:pt x="0" y="162641"/>
                  <a:pt x="46909" y="209550"/>
                  <a:pt x="104775" y="209550"/>
                </a:cubicBezTo>
                <a:close/>
                <a:moveTo>
                  <a:pt x="91678" y="39291"/>
                </a:moveTo>
                <a:lnTo>
                  <a:pt x="91678" y="110200"/>
                </a:lnTo>
                <a:lnTo>
                  <a:pt x="134805" y="153326"/>
                </a:lnTo>
                <a:lnTo>
                  <a:pt x="153326" y="134805"/>
                </a:lnTo>
                <a:lnTo>
                  <a:pt x="117872" y="99350"/>
                </a:lnTo>
                <a:lnTo>
                  <a:pt x="117872" y="39291"/>
                </a:lnTo>
                <a:lnTo>
                  <a:pt x="91678" y="39291"/>
                </a:lnTo>
                <a:close/>
              </a:path>
            </a:pathLst>
          </a:custGeom>
          <a:solidFill>
            <a:srgbClr val="0D4F8B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319212" y="4545806"/>
            <a:ext cx="26464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耗时约</a:t>
            </a:r>
            <a:r>
              <a:rPr lang="zh-CN" sz="1125" b="1" dirty="0">
                <a:solidFill>
                  <a:srgbClr val="0D4F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1-2 天</a:t>
            </a:r>
            <a:r>
              <a:rPr lang="zh-CN" sz="112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· 材料费约</a:t>
            </a:r>
            <a:r>
              <a:rPr lang="zh-CN" sz="1125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800-1,500 元</a:t>
            </a:r>
            <a:endParaRPr lang="zh-CN" sz="1125" b="1" dirty="0">
              <a:solidFill>
                <a:srgbClr val="E8612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21118" y="4790599"/>
            <a:ext cx="26965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京东搜 → 东方雨虹 HCA121 丙烯酸弹性防水涂料</a:t>
            </a:r>
            <a:endParaRPr lang="zh-CN" sz="975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Line 31"/>
          <p:cNvSpPr/>
          <p:nvPr/>
        </p:nvSpPr>
        <p:spPr>
          <a:xfrm>
            <a:off x="6096000" y="1333500"/>
            <a:ext cx="9525" cy="4857750"/>
          </a:xfrm>
          <a:custGeom>
            <a:avLst/>
            <a:gdLst/>
            <a:ahLst/>
            <a:cxnLst/>
            <a:rect l="l" t="t" r="r" b="b"/>
            <a:pathLst>
              <a:path w="9525" h="4857750">
                <a:moveTo>
                  <a:pt x="0" y="0"/>
                </a:moveTo>
                <a:lnTo>
                  <a:pt x="0" y="4857750"/>
                </a:lnTo>
              </a:path>
            </a:pathLst>
          </a:custGeom>
          <a:noFill/>
          <a:ln w="14288">
            <a:solidFill>
              <a:srgbClr val="D0D8E0"/>
            </a:solidFill>
            <a:prstDash val="dash"/>
          </a:ln>
        </p:spPr>
      </p:sp>
      <p:sp>
        <p:nvSpPr>
          <p:cNvPr id="32" name="Ellipse 32"/>
          <p:cNvSpPr/>
          <p:nvPr/>
        </p:nvSpPr>
        <p:spPr>
          <a:xfrm>
            <a:off x="5924550" y="3590925"/>
            <a:ext cx="3429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0D8E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042235" y="3706178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+</a:t>
            </a:r>
            <a:endParaRPr lang="zh-CN" sz="1050" b="1" dirty="0">
              <a:solidFill>
                <a:srgbClr val="E8612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Rectangle 34"/>
          <p:cNvSpPr/>
          <p:nvPr/>
        </p:nvSpPr>
        <p:spPr>
          <a:xfrm>
            <a:off x="6334125" y="1143000"/>
            <a:ext cx="5286375" cy="5238750"/>
          </a:xfrm>
          <a:prstGeom prst="roundRect">
            <a:avLst>
              <a:gd name="adj" fmla="val 2182"/>
            </a:avLst>
          </a:prstGeom>
          <a:solidFill>
            <a:srgbClr val="F0F4F8"/>
          </a:solidFill>
          <a:ln w="9525">
            <a:solidFill>
              <a:srgbClr val="D0D8E0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6334125" y="1143000"/>
            <a:ext cx="5286375" cy="533400"/>
          </a:xfrm>
          <a:prstGeom prst="roundRect">
            <a:avLst>
              <a:gd name="adj" fmla="val 21429"/>
            </a:avLst>
          </a:prstGeom>
          <a:gradFill>
            <a:gsLst>
              <a:gs pos="0">
                <a:srgbClr val="0891B2"/>
              </a:gs>
              <a:gs pos="100000">
                <a:srgbClr val="065F6E"/>
              </a:gs>
            </a:gsLst>
            <a:lin ang="2700000" scaled="1"/>
          </a:gra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6334125" y="1562100"/>
            <a:ext cx="5286375" cy="114300"/>
          </a:xfrm>
          <a:prstGeom prst="rect">
            <a:avLst/>
          </a:prstGeom>
          <a:gradFill>
            <a:gsLst>
              <a:gs pos="0">
                <a:srgbClr val="0891B2"/>
              </a:gs>
              <a:gs pos="100000">
                <a:srgbClr val="065F6E"/>
              </a:gs>
            </a:gsLst>
            <a:lin ang="2700000" scaled="1"/>
          </a:gra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6641306" y="127635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150019" y="342900"/>
                </a:moveTo>
                <a:lnTo>
                  <a:pt x="71797" y="287027"/>
                </a:lnTo>
                <a:cubicBezTo>
                  <a:pt x="26740" y="254843"/>
                  <a:pt x="0" y="202883"/>
                  <a:pt x="0" y="147513"/>
                </a:cubicBezTo>
                <a:lnTo>
                  <a:pt x="0" y="64294"/>
                </a:lnTo>
                <a:lnTo>
                  <a:pt x="150019" y="0"/>
                </a:lnTo>
                <a:lnTo>
                  <a:pt x="300038" y="64294"/>
                </a:lnTo>
                <a:lnTo>
                  <a:pt x="300038" y="147513"/>
                </a:lnTo>
                <a:cubicBezTo>
                  <a:pt x="300038" y="202883"/>
                  <a:pt x="273298" y="254843"/>
                  <a:pt x="228241" y="287027"/>
                </a:cubicBezTo>
                <a:lnTo>
                  <a:pt x="150019" y="342900"/>
                </a:lnTo>
                <a:close/>
                <a:moveTo>
                  <a:pt x="240182" y="122311"/>
                </a:moveTo>
                <a:lnTo>
                  <a:pt x="209874" y="92002"/>
                </a:lnTo>
                <a:lnTo>
                  <a:pt x="128588" y="173289"/>
                </a:lnTo>
                <a:lnTo>
                  <a:pt x="90164" y="134864"/>
                </a:lnTo>
                <a:lnTo>
                  <a:pt x="59855" y="165173"/>
                </a:lnTo>
                <a:lnTo>
                  <a:pt x="128588" y="233905"/>
                </a:lnTo>
                <a:lnTo>
                  <a:pt x="240182" y="1223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7073265" y="1234440"/>
            <a:ext cx="29718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第二步：</a:t>
            </a:r>
            <a:r>
              <a:rPr lang="zh-CN" sz="1800" b="1" dirty="0">
                <a:solidFill>
                  <a:srgbClr val="FF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内墙</a:t>
            </a:r>
            <a:r>
              <a: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背水面综合治理</a:t>
            </a:r>
            <a:endParaRPr lang="zh-CN" sz="18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7083742" y="1513999"/>
            <a:ext cx="18644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外墙完成后跟进 — 七步巩固防线</a:t>
            </a:r>
            <a:endParaRPr lang="zh-CN" sz="975" dirty="0">
              <a:solidFill>
                <a:srgbClr val="FFFFFF">
                  <a:alphaMod val="8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Rectangle 40"/>
          <p:cNvSpPr/>
          <p:nvPr/>
        </p:nvSpPr>
        <p:spPr>
          <a:xfrm>
            <a:off x="10668000" y="1257300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0766996" y="1333024"/>
            <a:ext cx="5640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★★☆ 跟进</a:t>
            </a:r>
            <a:endParaRPr lang="zh-CN" sz="975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49" name="Group 49"/>
          <p:cNvGrpSpPr/>
          <p:nvPr/>
        </p:nvGrpSpPr>
        <p:grpSpPr>
          <a:xfrm>
            <a:off x="6604635" y="1918335"/>
            <a:ext cx="3374898" cy="2072640"/>
            <a:chOff x="6604635" y="1918335"/>
            <a:chExt cx="3374898" cy="2072640"/>
          </a:xfrm>
        </p:grpSpPr>
        <p:sp>
          <p:nvSpPr>
            <p:cNvPr id="42" name="TextBox 42"/>
            <p:cNvSpPr txBox="1"/>
            <p:nvPr/>
          </p:nvSpPr>
          <p:spPr>
            <a:xfrm>
              <a:off x="6604635" y="1918335"/>
              <a:ext cx="24707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</a:t>
              </a:r>
              <a:r>
                <a: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铲除霉变层（超出霉变区30cm）</a:t>
              </a:r>
              <a:endParaRPr lang="zh-CN" sz="120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04635" y="2223135"/>
              <a:ext cx="30548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②</a:t>
              </a:r>
              <a:r>
                <a: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杀菌消毒（84消毒液1:10湿敷10-15分钟）</a:t>
              </a:r>
              <a:endParaRPr lang="zh-CN" sz="120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04635" y="2527935"/>
              <a:ext cx="27268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③</a:t>
              </a:r>
              <a:r>
                <a: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基层封闭（防水型墙固封闭毛细孔）</a:t>
              </a:r>
              <a:endParaRPr lang="zh-CN" sz="120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04635" y="2832735"/>
              <a:ext cx="33108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④</a:t>
              </a:r>
              <a:r>
                <a: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防水层（渗透结晶防水涂料 2遍 + 养护48h）</a:t>
              </a:r>
              <a:endParaRPr lang="zh-CN" sz="120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04635" y="3137535"/>
              <a:ext cx="33748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⑤</a:t>
              </a:r>
              <a:r>
                <a: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腻子层（N型水泥基耐水腻子 2遍，间隔24h）</a:t>
              </a:r>
              <a:endParaRPr lang="zh-CN" sz="120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04635" y="3442335"/>
              <a:ext cx="20227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⑥</a:t>
              </a:r>
              <a:r>
                <a: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底漆（抗碱防潮底漆 1遍）</a:t>
              </a:r>
              <a:endParaRPr lang="zh-CN" sz="120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04635" y="3747135"/>
              <a:ext cx="27268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⑦</a:t>
              </a:r>
              <a:r>
                <a:rPr lang="zh-CN" sz="120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面漆（防霉乳胶漆 / 无机涂料 2遍）</a:t>
              </a:r>
              <a:endParaRPr lang="zh-CN" sz="120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0" name="Rectangle 50"/>
          <p:cNvSpPr/>
          <p:nvPr/>
        </p:nvSpPr>
        <p:spPr>
          <a:xfrm>
            <a:off x="6619875" y="4286250"/>
            <a:ext cx="47148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</p:sp>
      <p:sp>
        <p:nvSpPr>
          <p:cNvPr id="51" name="Freeform 51"/>
          <p:cNvSpPr/>
          <p:nvPr/>
        </p:nvSpPr>
        <p:spPr>
          <a:xfrm>
            <a:off x="6810375" y="451485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104775" y="209550"/>
                </a:moveTo>
                <a:cubicBezTo>
                  <a:pt x="162641" y="209550"/>
                  <a:pt x="209550" y="162641"/>
                  <a:pt x="209550" y="104775"/>
                </a:cubicBezTo>
                <a:cubicBezTo>
                  <a:pt x="209550" y="46909"/>
                  <a:pt x="162641" y="0"/>
                  <a:pt x="104775" y="0"/>
                </a:cubicBezTo>
                <a:cubicBezTo>
                  <a:pt x="46909" y="0"/>
                  <a:pt x="0" y="46909"/>
                  <a:pt x="0" y="104775"/>
                </a:cubicBezTo>
                <a:cubicBezTo>
                  <a:pt x="0" y="162641"/>
                  <a:pt x="46909" y="209550"/>
                  <a:pt x="104775" y="209550"/>
                </a:cubicBezTo>
                <a:close/>
                <a:moveTo>
                  <a:pt x="91678" y="39291"/>
                </a:moveTo>
                <a:lnTo>
                  <a:pt x="91678" y="110200"/>
                </a:lnTo>
                <a:lnTo>
                  <a:pt x="134805" y="153326"/>
                </a:lnTo>
                <a:lnTo>
                  <a:pt x="153326" y="134805"/>
                </a:lnTo>
                <a:lnTo>
                  <a:pt x="117872" y="99350"/>
                </a:lnTo>
                <a:lnTo>
                  <a:pt x="117872" y="39291"/>
                </a:lnTo>
                <a:lnTo>
                  <a:pt x="91678" y="39291"/>
                </a:lnTo>
                <a:close/>
              </a:path>
            </a:pathLst>
          </a:custGeom>
          <a:solidFill>
            <a:srgbClr val="0891B2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081838" y="4545806"/>
            <a:ext cx="28489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耗时约</a:t>
            </a:r>
            <a:r>
              <a:rPr lang="zh-CN" sz="1125" b="1" dirty="0">
                <a:solidFill>
                  <a:srgbClr val="0891B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5-7 天</a:t>
            </a:r>
            <a:r>
              <a:rPr lang="zh-CN" sz="112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· 材料费约</a:t>
            </a:r>
            <a:r>
              <a:rPr lang="zh-CN" sz="1125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1,500-3,000 元</a:t>
            </a:r>
            <a:endParaRPr lang="zh-CN" sz="1125" b="1" dirty="0">
              <a:solidFill>
                <a:srgbClr val="E8612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7083742" y="4790599"/>
            <a:ext cx="24430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京东搜 → 德高K11通用型 渗透结晶防水涂料</a:t>
            </a:r>
            <a:endParaRPr lang="zh-CN" sz="975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4172379" y="6514624"/>
            <a:ext cx="38472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⚠ 外墙处理好后再做内墙，否则等于白做！先外后内 = 事半功倍</a:t>
            </a:r>
            <a:endParaRPr lang="zh-CN" sz="975" b="1" dirty="0">
              <a:solidFill>
                <a:srgbClr val="E8612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1329487" y="6530816"/>
            <a:ext cx="3014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 / 10</a:t>
            </a:r>
            <a:endParaRPr lang="zh-CN" sz="825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0D4F8B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312420"/>
            <a:ext cx="5045710" cy="3689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D4F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第一</a:t>
            </a:r>
            <a:r>
              <a:rPr lang="zh-CN" sz="2400" b="1" dirty="0">
                <a:solidFill>
                  <a:srgbClr val="0D4F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步：外墙正水面防水 — 优先执行</a:t>
            </a:r>
            <a:endParaRPr lang="zh-CN" sz="2400" b="1" dirty="0">
              <a:solidFill>
                <a:srgbClr val="0D4F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58165" y="743902"/>
            <a:ext cx="25819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从源头阻断水源 · 3步完成 · 耗时约1-2天</a:t>
            </a:r>
            <a:endParaRPr lang="zh-CN" sz="105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Line 6"/>
          <p:cNvSpPr/>
          <p:nvPr/>
        </p:nvSpPr>
        <p:spPr>
          <a:xfrm>
            <a:off x="3783330" y="2667000"/>
            <a:ext cx="1238250" cy="1"/>
          </a:xfrm>
          <a:prstGeom prst="line">
            <a:avLst/>
          </a:prstGeom>
          <a:noFill/>
          <a:ln w="23812">
            <a:solidFill>
              <a:srgbClr val="D0D8E0"/>
            </a:solidFill>
            <a:tailEnd type="triangle" w="lg" len="lg"/>
          </a:ln>
        </p:spPr>
      </p:sp>
      <p:sp>
        <p:nvSpPr>
          <p:cNvPr id="7" name="Line 7"/>
          <p:cNvSpPr/>
          <p:nvPr/>
        </p:nvSpPr>
        <p:spPr>
          <a:xfrm>
            <a:off x="7307580" y="2667000"/>
            <a:ext cx="1238250" cy="1"/>
          </a:xfrm>
          <a:prstGeom prst="line">
            <a:avLst/>
          </a:prstGeom>
          <a:noFill/>
          <a:ln w="23812">
            <a:solidFill>
              <a:srgbClr val="D0D8E0"/>
            </a:solidFill>
            <a:tailEnd type="triangle" w="lg" len="lg"/>
          </a:ln>
        </p:spPr>
      </p:sp>
      <p:grpSp>
        <p:nvGrpSpPr>
          <p:cNvPr id="24" name="Group 24"/>
          <p:cNvGrpSpPr/>
          <p:nvPr/>
        </p:nvGrpSpPr>
        <p:grpSpPr>
          <a:xfrm>
            <a:off x="1735455" y="2238375"/>
            <a:ext cx="3238500" cy="4143375"/>
            <a:chOff x="571500" y="2238375"/>
            <a:chExt cx="3238500" cy="4143375"/>
          </a:xfrm>
        </p:grpSpPr>
        <p:sp>
          <p:nvSpPr>
            <p:cNvPr id="8" name="Ellipse 8"/>
            <p:cNvSpPr/>
            <p:nvPr/>
          </p:nvSpPr>
          <p:spPr>
            <a:xfrm>
              <a:off x="1762125" y="2238375"/>
              <a:ext cx="857250" cy="857250"/>
            </a:xfrm>
            <a:prstGeom prst="ellipse">
              <a:avLst/>
            </a:prstGeom>
            <a:solidFill>
              <a:srgbClr val="0D4F8B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828800" y="2305050"/>
              <a:ext cx="723900" cy="723900"/>
            </a:xfrm>
            <a:prstGeom prst="ellipse">
              <a:avLst/>
            </a:prstGeom>
            <a:noFill/>
            <a:ln w="14288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119974" y="2392680"/>
              <a:ext cx="14155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</a:t>
              </a:r>
              <a:endParaRPr lang="zh-CN" sz="2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65711" y="2728912"/>
              <a:ext cx="25007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FFFFFF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STEP</a:t>
              </a:r>
              <a:endParaRPr lang="zh-CN" sz="750" b="1" dirty="0">
                <a:solidFill>
                  <a:srgbClr val="FFFFFF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2190750" y="3095625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0D4F8B">
                  <a:alpha val="40000"/>
                </a:srgbClr>
              </a:solidFill>
              <a:prstDash val="dash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3619500"/>
              <a:ext cx="3238500" cy="276225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9525">
              <a:solidFill>
                <a:srgbClr val="D0D8E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1500" y="3886200"/>
              <a:ext cx="38100" cy="304800"/>
            </a:xfrm>
            <a:prstGeom prst="rect">
              <a:avLst/>
            </a:prstGeom>
            <a:solidFill>
              <a:srgbClr val="0D4F8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2955" y="3892868"/>
              <a:ext cx="17638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清洁外墙 + 修补裂缝</a:t>
              </a:r>
              <a:endParaRPr lang="zh-CN" sz="13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7718" y="41428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D4F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表面处理</a:t>
              </a:r>
              <a:endParaRPr lang="zh-CN" sz="975" b="1" dirty="0">
                <a:solidFill>
                  <a:srgbClr val="0D4F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800100" y="4419600"/>
              <a:ext cx="2781300" cy="9525"/>
            </a:xfrm>
            <a:custGeom>
              <a:avLst/>
              <a:gdLst/>
              <a:ahLst/>
              <a:cxnLst/>
              <a:rect l="l" t="t" r="r" b="b"/>
              <a:pathLst>
                <a:path w="2781300" h="9525">
                  <a:moveTo>
                    <a:pt x="0" y="0"/>
                  </a:moveTo>
                  <a:lnTo>
                    <a:pt x="2781300" y="0"/>
                  </a:lnTo>
                </a:path>
              </a:pathLst>
            </a:custGeom>
            <a:noFill/>
            <a:ln w="14288">
              <a:solidFill>
                <a:srgbClr val="F0F4F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6765" y="459200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高压水枪冲洗污垢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6765" y="483965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水泥砂浆填补裂缝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6765" y="508730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确保基层平整坚实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6765" y="5334952"/>
              <a:ext cx="1125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清除浮灰和油污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0100" y="5715000"/>
              <a:ext cx="857250" cy="247650"/>
            </a:xfrm>
            <a:prstGeom prst="roundRect">
              <a:avLst>
                <a:gd name="adj" fmla="val 23077"/>
              </a:avLst>
            </a:prstGeom>
            <a:solidFill>
              <a:srgbClr val="0D4F8B">
                <a:alpha val="8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6721" y="5781199"/>
              <a:ext cx="5640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D4F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2-4 小时</a:t>
              </a:r>
              <a:endParaRPr lang="zh-CN" sz="975" b="1" dirty="0">
                <a:solidFill>
                  <a:srgbClr val="0D4F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688205" y="2238375"/>
            <a:ext cx="3238500" cy="4143375"/>
            <a:chOff x="3524250" y="2238375"/>
            <a:chExt cx="3238500" cy="4143375"/>
          </a:xfrm>
        </p:grpSpPr>
        <p:sp>
          <p:nvSpPr>
            <p:cNvPr id="25" name="Ellipse 25"/>
            <p:cNvSpPr/>
            <p:nvPr/>
          </p:nvSpPr>
          <p:spPr>
            <a:xfrm>
              <a:off x="4714875" y="2238375"/>
              <a:ext cx="857250" cy="857250"/>
            </a:xfrm>
            <a:prstGeom prst="ellipse">
              <a:avLst/>
            </a:prstGeom>
            <a:solidFill>
              <a:srgbClr val="0891B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4781550" y="2305050"/>
              <a:ext cx="723900" cy="723900"/>
            </a:xfrm>
            <a:prstGeom prst="ellipse">
              <a:avLst/>
            </a:prstGeom>
            <a:noFill/>
            <a:ln w="14288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35970" y="2392680"/>
              <a:ext cx="21506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</a:t>
              </a:r>
              <a:endParaRPr lang="zh-CN" sz="2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18461" y="2728912"/>
              <a:ext cx="25007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FFFFFF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STEP</a:t>
              </a:r>
              <a:endParaRPr lang="zh-CN" sz="750" b="1" dirty="0">
                <a:solidFill>
                  <a:srgbClr val="FFFFFF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>
              <a:off x="5143500" y="3095625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0891B2">
                  <a:alpha val="40000"/>
                </a:srgbClr>
              </a:solidFill>
              <a:prstDash val="dash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524250" y="3619500"/>
              <a:ext cx="3238500" cy="276225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9525">
              <a:solidFill>
                <a:srgbClr val="D0D8E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524250" y="3886200"/>
              <a:ext cx="38100" cy="304800"/>
            </a:xfrm>
            <a:prstGeom prst="rect">
              <a:avLst/>
            </a:prstGeom>
            <a:solidFill>
              <a:srgbClr val="0891B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735705" y="3892868"/>
              <a:ext cx="20001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涂刷</a:t>
              </a:r>
              <a:r>
                <a:rPr lang="zh-CN" sz="1350" b="1" dirty="0">
                  <a:solidFill>
                    <a:srgbClr val="FF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丙烯酸弹性涂料</a:t>
              </a:r>
              <a:r>
                <a:rPr lang="zh-CN" sz="135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×2</a:t>
              </a:r>
              <a:endParaRPr lang="zh-CN" sz="13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40468" y="41428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防水施工</a:t>
              </a:r>
              <a:endParaRPr lang="zh-CN" sz="975" b="1" dirty="0">
                <a:solidFill>
                  <a:srgbClr val="0891B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3752850" y="4419600"/>
              <a:ext cx="2781300" cy="9525"/>
            </a:xfrm>
            <a:custGeom>
              <a:avLst/>
              <a:gdLst/>
              <a:ahLst/>
              <a:cxnLst/>
              <a:rect l="l" t="t" r="r" b="b"/>
              <a:pathLst>
                <a:path w="2781300" h="9525">
                  <a:moveTo>
                    <a:pt x="0" y="0"/>
                  </a:moveTo>
                  <a:lnTo>
                    <a:pt x="2781300" y="0"/>
                  </a:lnTo>
                </a:path>
              </a:pathLst>
            </a:custGeom>
            <a:noFill/>
            <a:ln w="14288">
              <a:solidFill>
                <a:srgbClr val="F0F4F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739515" y="459200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开桶搅匀，辊涂施工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39515" y="4839652"/>
              <a:ext cx="1244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第1遍干后涂第2遍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39515" y="5087302"/>
              <a:ext cx="10207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间隔 4-6 小时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39515" y="5334952"/>
              <a:ext cx="15108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覆盖率 3-5 m²/kg/遍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752850" y="5715000"/>
              <a:ext cx="857250" cy="247650"/>
            </a:xfrm>
            <a:prstGeom prst="roundRect">
              <a:avLst>
                <a:gd name="adj" fmla="val 23077"/>
              </a:avLst>
            </a:prstGeom>
            <a:solidFill>
              <a:srgbClr val="0891B2">
                <a:alpha val="8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899471" y="5781199"/>
              <a:ext cx="5640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4-6 小时</a:t>
              </a:r>
              <a:endParaRPr lang="zh-CN" sz="975" b="1" dirty="0">
                <a:solidFill>
                  <a:srgbClr val="0891B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640955" y="2238375"/>
            <a:ext cx="3238500" cy="4143375"/>
            <a:chOff x="6477000" y="2238375"/>
            <a:chExt cx="3238500" cy="4143375"/>
          </a:xfrm>
        </p:grpSpPr>
        <p:sp>
          <p:nvSpPr>
            <p:cNvPr id="42" name="Ellipse 42"/>
            <p:cNvSpPr/>
            <p:nvPr/>
          </p:nvSpPr>
          <p:spPr>
            <a:xfrm>
              <a:off x="7667625" y="2238375"/>
              <a:ext cx="857250" cy="857250"/>
            </a:xfrm>
            <a:prstGeom prst="ellipse">
              <a:avLst/>
            </a:prstGeom>
            <a:solidFill>
              <a:srgbClr val="E8612C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734300" y="2305050"/>
              <a:ext cx="723900" cy="723900"/>
            </a:xfrm>
            <a:prstGeom prst="ellipse">
              <a:avLst/>
            </a:prstGeom>
            <a:noFill/>
            <a:ln w="14288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988720" y="2392680"/>
              <a:ext cx="21506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</a:t>
              </a:r>
              <a:endParaRPr lang="zh-CN" sz="2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71211" y="2728912"/>
              <a:ext cx="25007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FFFFFF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STEP</a:t>
              </a:r>
              <a:endParaRPr lang="zh-CN" sz="750" b="1" dirty="0">
                <a:solidFill>
                  <a:srgbClr val="FFFFFF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Line 46"/>
            <p:cNvSpPr/>
            <p:nvPr/>
          </p:nvSpPr>
          <p:spPr>
            <a:xfrm>
              <a:off x="8096250" y="3095625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E8612C">
                  <a:alpha val="40000"/>
                </a:srgbClr>
              </a:solidFill>
              <a:prstDash val="dash"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7000" y="3619500"/>
              <a:ext cx="3238500" cy="276225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9525">
              <a:solidFill>
                <a:srgbClr val="D0D8E0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7000" y="3886200"/>
              <a:ext cx="38100" cy="304800"/>
            </a:xfrm>
            <a:prstGeom prst="rect">
              <a:avLst/>
            </a:prstGeom>
            <a:solidFill>
              <a:srgbClr val="E8612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88455" y="3892868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墙角交接处加强处理</a:t>
              </a:r>
              <a:endParaRPr lang="zh-CN" sz="135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93218" y="41428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612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关键收尾</a:t>
              </a:r>
              <a:endParaRPr lang="zh-CN" sz="975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Line 51"/>
            <p:cNvSpPr/>
            <p:nvPr/>
          </p:nvSpPr>
          <p:spPr>
            <a:xfrm>
              <a:off x="6705600" y="4419600"/>
              <a:ext cx="2781300" cy="9525"/>
            </a:xfrm>
            <a:custGeom>
              <a:avLst/>
              <a:gdLst/>
              <a:ahLst/>
              <a:cxnLst/>
              <a:rect l="l" t="t" r="r" b="b"/>
              <a:pathLst>
                <a:path w="2781300" h="9525">
                  <a:moveTo>
                    <a:pt x="0" y="0"/>
                  </a:moveTo>
                  <a:lnTo>
                    <a:pt x="2781300" y="0"/>
                  </a:lnTo>
                </a:path>
              </a:pathLst>
            </a:custGeom>
            <a:noFill/>
            <a:ln w="14288">
              <a:solidFill>
                <a:srgbClr val="F0F4F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92265" y="4592002"/>
              <a:ext cx="15948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墙角向上翻起 20-30cm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92265" y="483965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地面交接处多刷1遍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92265" y="508730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形成整体密封防水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92265" y="533495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干固后检查无漏点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705600" y="5715000"/>
              <a:ext cx="857250" cy="247650"/>
            </a:xfrm>
            <a:prstGeom prst="roundRect">
              <a:avLst>
                <a:gd name="adj" fmla="val 23077"/>
              </a:avLst>
            </a:prstGeom>
            <a:solidFill>
              <a:srgbClr val="E8612C">
                <a:alpha val="8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89763" y="5781199"/>
              <a:ext cx="4889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612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24 小时</a:t>
              </a:r>
              <a:endParaRPr lang="zh-CN" sz="975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9" name="Rectangle 59"/>
          <p:cNvSpPr/>
          <p:nvPr/>
        </p:nvSpPr>
        <p:spPr>
          <a:xfrm>
            <a:off x="2476500" y="0"/>
            <a:ext cx="7239000" cy="40005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1329487" y="6530816"/>
            <a:ext cx="3014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 / 10</a:t>
            </a:r>
            <a:endParaRPr lang="zh-CN" sz="825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1" grpId="0"/>
      <p:bldP spid="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0D4F8B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293370"/>
            <a:ext cx="5655310" cy="3689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D4F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第二步：内墙背水面综合治理 — 七步到位</a:t>
            </a:r>
            <a:endParaRPr lang="zh-CN" sz="2400" b="1" dirty="0">
              <a:solidFill>
                <a:srgbClr val="0D4F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58165" y="705802"/>
            <a:ext cx="44302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从铲除到面漆 · 7步系统施工 · 耗时约5-7天 · 材料费约1,500-3,000元</a:t>
            </a:r>
            <a:endParaRPr lang="zh-CN" sz="105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2032873" y="1219200"/>
            <a:ext cx="658654" cy="1469231"/>
            <a:chOff x="766048" y="1219200"/>
            <a:chExt cx="658654" cy="1469231"/>
          </a:xfrm>
        </p:grpSpPr>
        <p:sp>
          <p:nvSpPr>
            <p:cNvPr id="6" name="Ellipse 6"/>
            <p:cNvSpPr/>
            <p:nvPr/>
          </p:nvSpPr>
          <p:spPr>
            <a:xfrm>
              <a:off x="790575" y="1219200"/>
              <a:ext cx="609600" cy="609600"/>
            </a:xfrm>
            <a:prstGeom prst="ellipse">
              <a:avLst/>
            </a:prstGeom>
            <a:solidFill>
              <a:srgbClr val="E8612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9766" y="1298258"/>
              <a:ext cx="1112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Freeform 8"/>
            <p:cNvSpPr/>
            <p:nvPr/>
          </p:nvSpPr>
          <p:spPr>
            <a:xfrm>
              <a:off x="923925" y="190500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14312" y="75009"/>
                  </a:moveTo>
                  <a:lnTo>
                    <a:pt x="279851" y="9470"/>
                  </a:lnTo>
                  <a:cubicBezTo>
                    <a:pt x="266399" y="3387"/>
                    <a:pt x="251468" y="0"/>
                    <a:pt x="235744" y="0"/>
                  </a:cubicBezTo>
                  <a:cubicBezTo>
                    <a:pt x="176563" y="0"/>
                    <a:pt x="128588" y="47976"/>
                    <a:pt x="128588" y="107156"/>
                  </a:cubicBezTo>
                  <a:cubicBezTo>
                    <a:pt x="128588" y="116972"/>
                    <a:pt x="129907" y="126480"/>
                    <a:pt x="132379" y="135512"/>
                  </a:cubicBezTo>
                  <a:lnTo>
                    <a:pt x="0" y="267891"/>
                  </a:lnTo>
                  <a:lnTo>
                    <a:pt x="75009" y="342900"/>
                  </a:lnTo>
                  <a:lnTo>
                    <a:pt x="207388" y="210521"/>
                  </a:lnTo>
                  <a:cubicBezTo>
                    <a:pt x="216419" y="212993"/>
                    <a:pt x="225928" y="214312"/>
                    <a:pt x="235744" y="214312"/>
                  </a:cubicBezTo>
                  <a:cubicBezTo>
                    <a:pt x="294924" y="214312"/>
                    <a:pt x="342900" y="166337"/>
                    <a:pt x="342900" y="107156"/>
                  </a:cubicBezTo>
                  <a:cubicBezTo>
                    <a:pt x="342900" y="91433"/>
                    <a:pt x="339514" y="76500"/>
                    <a:pt x="333430" y="63048"/>
                  </a:cubicBezTo>
                  <a:lnTo>
                    <a:pt x="267891" y="128588"/>
                  </a:lnTo>
                  <a:lnTo>
                    <a:pt x="214312" y="128588"/>
                  </a:lnTo>
                  <a:lnTo>
                    <a:pt x="214312" y="75009"/>
                  </a:lnTo>
                  <a:close/>
                </a:path>
              </a:pathLst>
            </a:custGeom>
            <a:solidFill>
              <a:srgbClr val="E8612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6048" y="22979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铲除霉变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2867" y="2520791"/>
              <a:ext cx="5050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超出30cm</a:t>
              </a:r>
              <a:endParaRPr lang="zh-CN" sz="82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2" name="Line 12"/>
          <p:cNvSpPr/>
          <p:nvPr/>
        </p:nvSpPr>
        <p:spPr>
          <a:xfrm>
            <a:off x="2743200" y="1524000"/>
            <a:ext cx="285750" cy="1"/>
          </a:xfrm>
          <a:prstGeom prst="line">
            <a:avLst/>
          </a:prstGeom>
          <a:noFill/>
          <a:ln w="19050">
            <a:solidFill>
              <a:srgbClr val="D0D8E0"/>
            </a:solidFill>
            <a:tailEnd type="triangle" w="lg" len="lg"/>
          </a:ln>
        </p:spPr>
      </p:sp>
      <p:grpSp>
        <p:nvGrpSpPr>
          <p:cNvPr id="18" name="Group 18"/>
          <p:cNvGrpSpPr/>
          <p:nvPr/>
        </p:nvGrpSpPr>
        <p:grpSpPr>
          <a:xfrm>
            <a:off x="3223498" y="1219200"/>
            <a:ext cx="658654" cy="1469231"/>
            <a:chOff x="1956673" y="1219200"/>
            <a:chExt cx="658654" cy="1469231"/>
          </a:xfrm>
        </p:grpSpPr>
        <p:sp>
          <p:nvSpPr>
            <p:cNvPr id="13" name="Ellipse 13"/>
            <p:cNvSpPr/>
            <p:nvPr/>
          </p:nvSpPr>
          <p:spPr>
            <a:xfrm>
              <a:off x="1981200" y="1219200"/>
              <a:ext cx="609600" cy="609600"/>
            </a:xfrm>
            <a:prstGeom prst="ellipse">
              <a:avLst/>
            </a:prstGeom>
            <a:solidFill>
              <a:srgbClr val="E8612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201512" y="1298258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2157412" y="1905000"/>
              <a:ext cx="257175" cy="342900"/>
            </a:xfrm>
            <a:custGeom>
              <a:avLst/>
              <a:gdLst/>
              <a:ahLst/>
              <a:cxnLst/>
              <a:rect l="l" t="t" r="r" b="b"/>
              <a:pathLst>
                <a:path w="257175" h="342900">
                  <a:moveTo>
                    <a:pt x="107156" y="0"/>
                  </a:moveTo>
                  <a:lnTo>
                    <a:pt x="20252" y="139046"/>
                  </a:lnTo>
                  <a:cubicBezTo>
                    <a:pt x="7018" y="160222"/>
                    <a:pt x="0" y="184691"/>
                    <a:pt x="0" y="209662"/>
                  </a:cubicBezTo>
                  <a:lnTo>
                    <a:pt x="0" y="214312"/>
                  </a:lnTo>
                  <a:cubicBezTo>
                    <a:pt x="0" y="285329"/>
                    <a:pt x="57571" y="342900"/>
                    <a:pt x="128588" y="342900"/>
                  </a:cubicBezTo>
                  <a:cubicBezTo>
                    <a:pt x="199604" y="342900"/>
                    <a:pt x="257175" y="285329"/>
                    <a:pt x="257175" y="214312"/>
                  </a:cubicBezTo>
                  <a:lnTo>
                    <a:pt x="257175" y="209662"/>
                  </a:lnTo>
                  <a:cubicBezTo>
                    <a:pt x="257175" y="184691"/>
                    <a:pt x="250158" y="160222"/>
                    <a:pt x="236922" y="139046"/>
                  </a:cubicBezTo>
                  <a:lnTo>
                    <a:pt x="150019" y="0"/>
                  </a:lnTo>
                  <a:lnTo>
                    <a:pt x="107156" y="0"/>
                  </a:lnTo>
                  <a:close/>
                  <a:moveTo>
                    <a:pt x="171450" y="214312"/>
                  </a:moveTo>
                  <a:cubicBezTo>
                    <a:pt x="171450" y="237985"/>
                    <a:pt x="152260" y="257175"/>
                    <a:pt x="128588" y="257175"/>
                  </a:cubicBezTo>
                  <a:lnTo>
                    <a:pt x="128588" y="300038"/>
                  </a:lnTo>
                  <a:cubicBezTo>
                    <a:pt x="175931" y="300038"/>
                    <a:pt x="214312" y="261656"/>
                    <a:pt x="214312" y="214312"/>
                  </a:cubicBezTo>
                  <a:lnTo>
                    <a:pt x="171450" y="214312"/>
                  </a:lnTo>
                  <a:close/>
                </a:path>
              </a:pathLst>
            </a:custGeom>
            <a:solidFill>
              <a:srgbClr val="E8612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56673" y="22979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杀菌消毒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94987" y="2520791"/>
              <a:ext cx="5820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84 1:10湿敷</a:t>
              </a:r>
              <a:endParaRPr lang="zh-CN" sz="82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9" name="Line 19"/>
          <p:cNvSpPr/>
          <p:nvPr/>
        </p:nvSpPr>
        <p:spPr>
          <a:xfrm>
            <a:off x="3933825" y="1524000"/>
            <a:ext cx="285750" cy="1"/>
          </a:xfrm>
          <a:prstGeom prst="line">
            <a:avLst/>
          </a:prstGeom>
          <a:noFill/>
          <a:ln w="19050">
            <a:solidFill>
              <a:srgbClr val="D0D8E0"/>
            </a:solidFill>
            <a:tailEnd type="triangle" w="lg" len="lg"/>
          </a:ln>
        </p:spPr>
      </p:sp>
      <p:grpSp>
        <p:nvGrpSpPr>
          <p:cNvPr id="28" name="Group 28"/>
          <p:cNvGrpSpPr/>
          <p:nvPr/>
        </p:nvGrpSpPr>
        <p:grpSpPr>
          <a:xfrm>
            <a:off x="4414123" y="1219200"/>
            <a:ext cx="658654" cy="1469231"/>
            <a:chOff x="3147298" y="1219200"/>
            <a:chExt cx="658654" cy="1469231"/>
          </a:xfrm>
        </p:grpSpPr>
        <p:sp>
          <p:nvSpPr>
            <p:cNvPr id="20" name="Ellipse 20"/>
            <p:cNvSpPr/>
            <p:nvPr/>
          </p:nvSpPr>
          <p:spPr>
            <a:xfrm>
              <a:off x="3171825" y="1219200"/>
              <a:ext cx="609600" cy="609600"/>
            </a:xfrm>
            <a:prstGeom prst="ellipse">
              <a:avLst/>
            </a:prstGeom>
            <a:solidFill>
              <a:srgbClr val="0891B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92137" y="1298258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3326606" y="1905000"/>
              <a:ext cx="300038" cy="342900"/>
              <a:chOff x="3326606" y="1905000"/>
              <a:chExt cx="300038" cy="3429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3326606" y="1905000"/>
                <a:ext cx="30003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71450">
                    <a:moveTo>
                      <a:pt x="0" y="107156"/>
                    </a:moveTo>
                    <a:lnTo>
                      <a:pt x="0" y="64294"/>
                    </a:lnTo>
                    <a:lnTo>
                      <a:pt x="150019" y="0"/>
                    </a:lnTo>
                    <a:lnTo>
                      <a:pt x="300038" y="64294"/>
                    </a:lnTo>
                    <a:lnTo>
                      <a:pt x="300038" y="107156"/>
                    </a:lnTo>
                    <a:lnTo>
                      <a:pt x="150019" y="171450"/>
                    </a:lnTo>
                    <a:lnTo>
                      <a:pt x="0" y="107156"/>
                    </a:lnTo>
                    <a:close/>
                  </a:path>
                </a:pathLst>
              </a:custGeom>
              <a:solidFill>
                <a:srgbClr val="0891B2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326606" y="2140744"/>
                <a:ext cx="300038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07156">
                    <a:moveTo>
                      <a:pt x="150019" y="107156"/>
                    </a:moveTo>
                    <a:lnTo>
                      <a:pt x="0" y="42862"/>
                    </a:lnTo>
                    <a:lnTo>
                      <a:pt x="0" y="0"/>
                    </a:lnTo>
                    <a:lnTo>
                      <a:pt x="150019" y="64294"/>
                    </a:lnTo>
                    <a:lnTo>
                      <a:pt x="300038" y="0"/>
                    </a:lnTo>
                    <a:lnTo>
                      <a:pt x="300038" y="42862"/>
                    </a:lnTo>
                    <a:lnTo>
                      <a:pt x="150019" y="107156"/>
                    </a:lnTo>
                    <a:close/>
                  </a:path>
                </a:pathLst>
              </a:custGeom>
              <a:solidFill>
                <a:srgbClr val="0891B2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326606" y="2055019"/>
                <a:ext cx="300038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07156">
                    <a:moveTo>
                      <a:pt x="0" y="42862"/>
                    </a:moveTo>
                    <a:lnTo>
                      <a:pt x="150019" y="107156"/>
                    </a:lnTo>
                    <a:lnTo>
                      <a:pt x="300038" y="42862"/>
                    </a:lnTo>
                    <a:lnTo>
                      <a:pt x="300038" y="0"/>
                    </a:lnTo>
                    <a:lnTo>
                      <a:pt x="150019" y="64294"/>
                    </a:lnTo>
                    <a:lnTo>
                      <a:pt x="0" y="0"/>
                    </a:lnTo>
                    <a:lnTo>
                      <a:pt x="0" y="42862"/>
                    </a:lnTo>
                    <a:close/>
                  </a:path>
                </a:pathLst>
              </a:custGeom>
              <a:solidFill>
                <a:srgbClr val="0891B2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3147298" y="22979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基层封闭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91113" y="252079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防水型墙固</a:t>
              </a:r>
              <a:endParaRPr lang="zh-CN" sz="82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9" name="Line 29"/>
          <p:cNvSpPr/>
          <p:nvPr/>
        </p:nvSpPr>
        <p:spPr>
          <a:xfrm>
            <a:off x="5124450" y="1524000"/>
            <a:ext cx="285750" cy="1"/>
          </a:xfrm>
          <a:prstGeom prst="line">
            <a:avLst/>
          </a:prstGeom>
          <a:noFill/>
          <a:ln w="19050">
            <a:solidFill>
              <a:srgbClr val="D0D8E0"/>
            </a:solidFill>
            <a:tailEnd type="triangle" w="lg" len="lg"/>
          </a:ln>
        </p:spPr>
      </p:sp>
      <p:grpSp>
        <p:nvGrpSpPr>
          <p:cNvPr id="35" name="Group 35"/>
          <p:cNvGrpSpPr/>
          <p:nvPr/>
        </p:nvGrpSpPr>
        <p:grpSpPr>
          <a:xfrm>
            <a:off x="5618309" y="1219200"/>
            <a:ext cx="631531" cy="1469231"/>
            <a:chOff x="4351484" y="1219200"/>
            <a:chExt cx="631531" cy="1469231"/>
          </a:xfrm>
        </p:grpSpPr>
        <p:sp>
          <p:nvSpPr>
            <p:cNvPr id="30" name="Ellipse 30"/>
            <p:cNvSpPr/>
            <p:nvPr/>
          </p:nvSpPr>
          <p:spPr>
            <a:xfrm>
              <a:off x="4362450" y="1219200"/>
              <a:ext cx="609600" cy="609600"/>
            </a:xfrm>
            <a:prstGeom prst="ellipse">
              <a:avLst/>
            </a:prstGeom>
            <a:solidFill>
              <a:srgbClr val="0D4F8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582762" y="1298258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Freeform 32"/>
            <p:cNvSpPr/>
            <p:nvPr/>
          </p:nvSpPr>
          <p:spPr>
            <a:xfrm>
              <a:off x="4517231" y="1905000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150019" y="342900"/>
                  </a:moveTo>
                  <a:lnTo>
                    <a:pt x="71797" y="287027"/>
                  </a:lnTo>
                  <a:cubicBezTo>
                    <a:pt x="26740" y="254843"/>
                    <a:pt x="0" y="202883"/>
                    <a:pt x="0" y="147513"/>
                  </a:cubicBezTo>
                  <a:lnTo>
                    <a:pt x="0" y="64294"/>
                  </a:lnTo>
                  <a:lnTo>
                    <a:pt x="150019" y="0"/>
                  </a:lnTo>
                  <a:lnTo>
                    <a:pt x="300038" y="64294"/>
                  </a:lnTo>
                  <a:lnTo>
                    <a:pt x="300038" y="147513"/>
                  </a:lnTo>
                  <a:cubicBezTo>
                    <a:pt x="300038" y="202883"/>
                    <a:pt x="273298" y="254843"/>
                    <a:pt x="228241" y="287027"/>
                  </a:cubicBezTo>
                  <a:lnTo>
                    <a:pt x="150019" y="342900"/>
                  </a:lnTo>
                  <a:close/>
                  <a:moveTo>
                    <a:pt x="240182" y="122311"/>
                  </a:moveTo>
                  <a:lnTo>
                    <a:pt x="209874" y="92002"/>
                  </a:lnTo>
                  <a:lnTo>
                    <a:pt x="128588" y="173289"/>
                  </a:lnTo>
                  <a:lnTo>
                    <a:pt x="90164" y="134864"/>
                  </a:lnTo>
                  <a:lnTo>
                    <a:pt x="59855" y="165173"/>
                  </a:lnTo>
                  <a:lnTo>
                    <a:pt x="128588" y="233905"/>
                  </a:lnTo>
                  <a:lnTo>
                    <a:pt x="240182" y="122311"/>
                  </a:lnTo>
                  <a:close/>
                </a:path>
              </a:pathLst>
            </a:custGeom>
            <a:solidFill>
              <a:srgbClr val="0D4F8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416683" y="2297906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防水层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51484" y="2520791"/>
              <a:ext cx="6315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结晶涂料2遍</a:t>
              </a:r>
              <a:endParaRPr lang="zh-CN" sz="82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6" name="Line 36"/>
          <p:cNvSpPr/>
          <p:nvPr/>
        </p:nvSpPr>
        <p:spPr>
          <a:xfrm>
            <a:off x="6315075" y="1524000"/>
            <a:ext cx="285750" cy="1"/>
          </a:xfrm>
          <a:prstGeom prst="line">
            <a:avLst/>
          </a:prstGeom>
          <a:noFill/>
          <a:ln w="19050">
            <a:solidFill>
              <a:srgbClr val="D0D8E0"/>
            </a:solidFill>
            <a:tailEnd type="triangle" w="lg" len="lg"/>
          </a:ln>
        </p:spPr>
      </p:sp>
      <p:grpSp>
        <p:nvGrpSpPr>
          <p:cNvPr id="42" name="Group 42"/>
          <p:cNvGrpSpPr/>
          <p:nvPr/>
        </p:nvGrpSpPr>
        <p:grpSpPr>
          <a:xfrm>
            <a:off x="6819900" y="1219200"/>
            <a:ext cx="609600" cy="1469231"/>
            <a:chOff x="5553075" y="1219200"/>
            <a:chExt cx="609600" cy="1469231"/>
          </a:xfrm>
        </p:grpSpPr>
        <p:sp>
          <p:nvSpPr>
            <p:cNvPr id="37" name="Ellipse 37"/>
            <p:cNvSpPr/>
            <p:nvPr/>
          </p:nvSpPr>
          <p:spPr>
            <a:xfrm>
              <a:off x="5553075" y="1219200"/>
              <a:ext cx="609600" cy="609600"/>
            </a:xfrm>
            <a:prstGeom prst="ellipse">
              <a:avLst/>
            </a:prstGeom>
            <a:solidFill>
              <a:srgbClr val="0D4F8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773387" y="1298258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Freeform 39"/>
            <p:cNvSpPr/>
            <p:nvPr/>
          </p:nvSpPr>
          <p:spPr>
            <a:xfrm>
              <a:off x="5707856" y="1905000"/>
              <a:ext cx="321469" cy="342900"/>
            </a:xfrm>
            <a:custGeom>
              <a:avLst/>
              <a:gdLst/>
              <a:ahLst/>
              <a:cxnLst/>
              <a:rect l="l" t="t" r="r" b="b"/>
              <a:pathLst>
                <a:path w="321469" h="342900">
                  <a:moveTo>
                    <a:pt x="0" y="0"/>
                  </a:moveTo>
                  <a:lnTo>
                    <a:pt x="257175" y="0"/>
                  </a:lnTo>
                  <a:lnTo>
                    <a:pt x="257175" y="42862"/>
                  </a:lnTo>
                  <a:lnTo>
                    <a:pt x="321469" y="42862"/>
                  </a:lnTo>
                  <a:lnTo>
                    <a:pt x="321469" y="167344"/>
                  </a:lnTo>
                  <a:lnTo>
                    <a:pt x="171450" y="199491"/>
                  </a:lnTo>
                  <a:lnTo>
                    <a:pt x="171450" y="214312"/>
                  </a:lnTo>
                  <a:lnTo>
                    <a:pt x="192881" y="214312"/>
                  </a:lnTo>
                  <a:lnTo>
                    <a:pt x="192881" y="342900"/>
                  </a:lnTo>
                  <a:lnTo>
                    <a:pt x="107156" y="342900"/>
                  </a:lnTo>
                  <a:lnTo>
                    <a:pt x="107156" y="214312"/>
                  </a:lnTo>
                  <a:lnTo>
                    <a:pt x="128588" y="214312"/>
                  </a:lnTo>
                  <a:lnTo>
                    <a:pt x="128588" y="164840"/>
                  </a:lnTo>
                  <a:lnTo>
                    <a:pt x="278606" y="132693"/>
                  </a:lnTo>
                  <a:lnTo>
                    <a:pt x="278606" y="85725"/>
                  </a:lnTo>
                  <a:lnTo>
                    <a:pt x="257175" y="85725"/>
                  </a:lnTo>
                  <a:lnTo>
                    <a:pt x="257175" y="107156"/>
                  </a:lnTo>
                  <a:lnTo>
                    <a:pt x="0" y="107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D4F8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07308" y="2297906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腻子层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66862" y="2520791"/>
              <a:ext cx="5820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N型耐水2遍</a:t>
              </a:r>
              <a:endParaRPr lang="zh-CN" sz="82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3" name="Line 43"/>
          <p:cNvSpPr/>
          <p:nvPr/>
        </p:nvSpPr>
        <p:spPr>
          <a:xfrm>
            <a:off x="7505700" y="1524000"/>
            <a:ext cx="285750" cy="1"/>
          </a:xfrm>
          <a:prstGeom prst="line">
            <a:avLst/>
          </a:prstGeom>
          <a:noFill/>
          <a:ln w="19050">
            <a:solidFill>
              <a:srgbClr val="D0D8E0"/>
            </a:solidFill>
            <a:tailEnd type="triangle" w="lg" len="lg"/>
          </a:ln>
        </p:spPr>
      </p:sp>
      <p:grpSp>
        <p:nvGrpSpPr>
          <p:cNvPr id="49" name="Group 49"/>
          <p:cNvGrpSpPr/>
          <p:nvPr/>
        </p:nvGrpSpPr>
        <p:grpSpPr>
          <a:xfrm>
            <a:off x="8010525" y="1219200"/>
            <a:ext cx="609600" cy="1469231"/>
            <a:chOff x="6743700" y="1219200"/>
            <a:chExt cx="609600" cy="1469231"/>
          </a:xfrm>
        </p:grpSpPr>
        <p:sp>
          <p:nvSpPr>
            <p:cNvPr id="44" name="Ellipse 44"/>
            <p:cNvSpPr/>
            <p:nvPr/>
          </p:nvSpPr>
          <p:spPr>
            <a:xfrm>
              <a:off x="6743700" y="1219200"/>
              <a:ext cx="609600" cy="609600"/>
            </a:xfrm>
            <a:prstGeom prst="ellipse">
              <a:avLst/>
            </a:prstGeom>
            <a:solidFill>
              <a:srgbClr val="0D4F8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64012" y="1298258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Freeform 46"/>
            <p:cNvSpPr/>
            <p:nvPr/>
          </p:nvSpPr>
          <p:spPr>
            <a:xfrm>
              <a:off x="6898481" y="1905000"/>
              <a:ext cx="321469" cy="342900"/>
            </a:xfrm>
            <a:custGeom>
              <a:avLst/>
              <a:gdLst/>
              <a:ahLst/>
              <a:cxnLst/>
              <a:rect l="l" t="t" r="r" b="b"/>
              <a:pathLst>
                <a:path w="321469" h="342900">
                  <a:moveTo>
                    <a:pt x="0" y="0"/>
                  </a:moveTo>
                  <a:lnTo>
                    <a:pt x="257175" y="0"/>
                  </a:lnTo>
                  <a:lnTo>
                    <a:pt x="257175" y="42862"/>
                  </a:lnTo>
                  <a:lnTo>
                    <a:pt x="321469" y="42862"/>
                  </a:lnTo>
                  <a:lnTo>
                    <a:pt x="321469" y="167344"/>
                  </a:lnTo>
                  <a:lnTo>
                    <a:pt x="171450" y="199491"/>
                  </a:lnTo>
                  <a:lnTo>
                    <a:pt x="171450" y="214312"/>
                  </a:lnTo>
                  <a:lnTo>
                    <a:pt x="192881" y="214312"/>
                  </a:lnTo>
                  <a:lnTo>
                    <a:pt x="192881" y="342900"/>
                  </a:lnTo>
                  <a:lnTo>
                    <a:pt x="107156" y="342900"/>
                  </a:lnTo>
                  <a:lnTo>
                    <a:pt x="107156" y="214312"/>
                  </a:lnTo>
                  <a:lnTo>
                    <a:pt x="128588" y="214312"/>
                  </a:lnTo>
                  <a:lnTo>
                    <a:pt x="128588" y="164840"/>
                  </a:lnTo>
                  <a:lnTo>
                    <a:pt x="278606" y="132693"/>
                  </a:lnTo>
                  <a:lnTo>
                    <a:pt x="278606" y="85725"/>
                  </a:lnTo>
                  <a:lnTo>
                    <a:pt x="257175" y="85725"/>
                  </a:lnTo>
                  <a:lnTo>
                    <a:pt x="257175" y="107156"/>
                  </a:lnTo>
                  <a:lnTo>
                    <a:pt x="0" y="107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D4F8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76693" y="22979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底漆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46486" y="2520791"/>
              <a:ext cx="60402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抗碱防潮1遍</a:t>
              </a:r>
              <a:endParaRPr lang="zh-CN" sz="82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0" name="Line 50"/>
          <p:cNvSpPr/>
          <p:nvPr/>
        </p:nvSpPr>
        <p:spPr>
          <a:xfrm>
            <a:off x="8696325" y="1524000"/>
            <a:ext cx="285750" cy="1"/>
          </a:xfrm>
          <a:prstGeom prst="line">
            <a:avLst/>
          </a:prstGeom>
          <a:noFill/>
          <a:ln w="19050">
            <a:solidFill>
              <a:srgbClr val="D0D8E0"/>
            </a:solidFill>
            <a:tailEnd type="triangle" w="lg" len="lg"/>
          </a:ln>
        </p:spPr>
      </p:sp>
      <p:grpSp>
        <p:nvGrpSpPr>
          <p:cNvPr id="56" name="Group 56"/>
          <p:cNvGrpSpPr/>
          <p:nvPr/>
        </p:nvGrpSpPr>
        <p:grpSpPr>
          <a:xfrm>
            <a:off x="9135177" y="1219200"/>
            <a:ext cx="741545" cy="1469231"/>
            <a:chOff x="7868352" y="1219200"/>
            <a:chExt cx="741545" cy="1469231"/>
          </a:xfrm>
        </p:grpSpPr>
        <p:sp>
          <p:nvSpPr>
            <p:cNvPr id="51" name="Ellipse 51"/>
            <p:cNvSpPr/>
            <p:nvPr/>
          </p:nvSpPr>
          <p:spPr>
            <a:xfrm>
              <a:off x="7934325" y="1219200"/>
              <a:ext cx="609600" cy="609600"/>
            </a:xfrm>
            <a:prstGeom prst="ellipse">
              <a:avLst/>
            </a:prstGeom>
            <a:solidFill>
              <a:srgbClr val="0D8C5E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154637" y="1298258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7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Freeform 53"/>
            <p:cNvSpPr/>
            <p:nvPr/>
          </p:nvSpPr>
          <p:spPr>
            <a:xfrm>
              <a:off x="8067675" y="190500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314103" y="112362"/>
                  </a:moveTo>
                  <a:cubicBezTo>
                    <a:pt x="331634" y="126092"/>
                    <a:pt x="342900" y="147456"/>
                    <a:pt x="342900" y="171450"/>
                  </a:cubicBezTo>
                  <a:cubicBezTo>
                    <a:pt x="342900" y="195445"/>
                    <a:pt x="331634" y="216809"/>
                    <a:pt x="314101" y="230540"/>
                  </a:cubicBezTo>
                  <a:cubicBezTo>
                    <a:pt x="316788" y="252644"/>
                    <a:pt x="309649" y="275717"/>
                    <a:pt x="292682" y="292684"/>
                  </a:cubicBezTo>
                  <a:cubicBezTo>
                    <a:pt x="275715" y="309652"/>
                    <a:pt x="252642" y="316790"/>
                    <a:pt x="230538" y="314103"/>
                  </a:cubicBezTo>
                  <a:cubicBezTo>
                    <a:pt x="216807" y="331634"/>
                    <a:pt x="195444" y="342900"/>
                    <a:pt x="171450" y="342900"/>
                  </a:cubicBezTo>
                  <a:cubicBezTo>
                    <a:pt x="147455" y="342900"/>
                    <a:pt x="126092" y="331634"/>
                    <a:pt x="112361" y="314101"/>
                  </a:cubicBezTo>
                  <a:cubicBezTo>
                    <a:pt x="90256" y="316790"/>
                    <a:pt x="67183" y="309649"/>
                    <a:pt x="50216" y="292682"/>
                  </a:cubicBezTo>
                  <a:cubicBezTo>
                    <a:pt x="33249" y="275717"/>
                    <a:pt x="26110" y="252644"/>
                    <a:pt x="28798" y="230538"/>
                  </a:cubicBezTo>
                  <a:cubicBezTo>
                    <a:pt x="11266" y="216807"/>
                    <a:pt x="0" y="195444"/>
                    <a:pt x="0" y="171450"/>
                  </a:cubicBezTo>
                  <a:cubicBezTo>
                    <a:pt x="0" y="147455"/>
                    <a:pt x="11267" y="126092"/>
                    <a:pt x="28798" y="112361"/>
                  </a:cubicBezTo>
                  <a:cubicBezTo>
                    <a:pt x="26111" y="90256"/>
                    <a:pt x="33250" y="67183"/>
                    <a:pt x="50217" y="50216"/>
                  </a:cubicBezTo>
                  <a:cubicBezTo>
                    <a:pt x="67184" y="33249"/>
                    <a:pt x="90257" y="26110"/>
                    <a:pt x="112362" y="28798"/>
                  </a:cubicBezTo>
                  <a:cubicBezTo>
                    <a:pt x="126092" y="11266"/>
                    <a:pt x="147456" y="0"/>
                    <a:pt x="171450" y="0"/>
                  </a:cubicBezTo>
                  <a:cubicBezTo>
                    <a:pt x="195445" y="0"/>
                    <a:pt x="216809" y="11267"/>
                    <a:pt x="230540" y="28799"/>
                  </a:cubicBezTo>
                  <a:cubicBezTo>
                    <a:pt x="252644" y="26111"/>
                    <a:pt x="275717" y="33251"/>
                    <a:pt x="292684" y="50218"/>
                  </a:cubicBezTo>
                  <a:cubicBezTo>
                    <a:pt x="309652" y="67184"/>
                    <a:pt x="316790" y="90257"/>
                    <a:pt x="314103" y="112362"/>
                  </a:cubicBezTo>
                  <a:close/>
                  <a:moveTo>
                    <a:pt x="261613" y="133026"/>
                  </a:moveTo>
                  <a:lnTo>
                    <a:pt x="231305" y="102718"/>
                  </a:lnTo>
                  <a:lnTo>
                    <a:pt x="150019" y="184004"/>
                  </a:lnTo>
                  <a:lnTo>
                    <a:pt x="111595" y="145580"/>
                  </a:lnTo>
                  <a:lnTo>
                    <a:pt x="81286" y="175889"/>
                  </a:lnTo>
                  <a:lnTo>
                    <a:pt x="150019" y="244621"/>
                  </a:lnTo>
                  <a:lnTo>
                    <a:pt x="261613" y="133026"/>
                  </a:lnTo>
                  <a:close/>
                </a:path>
              </a:pathLst>
            </a:custGeom>
            <a:solidFill>
              <a:srgbClr val="0D8C5E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067318" y="22979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面漆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68352" y="2520791"/>
              <a:ext cx="74154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防霉乳胶漆2遍</a:t>
              </a:r>
              <a:endParaRPr lang="zh-CN" sz="82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7" name="Rectangle 57"/>
          <p:cNvSpPr/>
          <p:nvPr/>
        </p:nvSpPr>
        <p:spPr>
          <a:xfrm>
            <a:off x="571500" y="3448050"/>
            <a:ext cx="3524250" cy="1666875"/>
          </a:xfrm>
          <a:prstGeom prst="roundRect">
            <a:avLst>
              <a:gd name="adj" fmla="val 5714"/>
            </a:avLst>
          </a:prstGeom>
          <a:solidFill>
            <a:srgbClr val="F0F4F8"/>
          </a:solidFill>
          <a:ln w="9525">
            <a:solidFill>
              <a:srgbClr val="D0D8E0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571500" y="344805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0D4F8B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842010" y="3604260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D4F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步骤④ 防水层 — 核心工序</a:t>
            </a:r>
            <a:endParaRPr lang="zh-CN" sz="1200" b="1" dirty="0">
              <a:solidFill>
                <a:srgbClr val="0D4F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843915" y="3887152"/>
            <a:ext cx="21969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粉料:水 ≈ 1:0.3 搅拌至无颗粒糊状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843915" y="4115752"/>
            <a:ext cx="22529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横竖交叉涂刷 2遍，总厚度 ≥ 1.5mm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843915" y="4344352"/>
            <a:ext cx="17208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第2遍与第1遍间隔 2-4 小时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843915" y="4572952"/>
            <a:ext cx="19449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完工后</a:t>
            </a:r>
            <a:r>
              <a:rPr lang="zh-CN" sz="1050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养护 48 小时</a:t>
            </a:r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，保持湿润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4" name="Rectangle 64"/>
          <p:cNvSpPr/>
          <p:nvPr/>
        </p:nvSpPr>
        <p:spPr>
          <a:xfrm>
            <a:off x="857250" y="4800600"/>
            <a:ext cx="762000" cy="209550"/>
          </a:xfrm>
          <a:prstGeom prst="roundRect">
            <a:avLst>
              <a:gd name="adj" fmla="val 50000"/>
            </a:avLst>
          </a:prstGeom>
          <a:solidFill>
            <a:srgbClr val="E8612C">
              <a:alpha val="10000"/>
            </a:srgbClr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839322" y="4855845"/>
            <a:ext cx="7978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京东搜德高K11</a:t>
            </a:r>
            <a:endParaRPr lang="zh-CN" sz="900" b="1" dirty="0">
              <a:solidFill>
                <a:srgbClr val="E8612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6" name="Rectangle 66"/>
          <p:cNvSpPr/>
          <p:nvPr/>
        </p:nvSpPr>
        <p:spPr>
          <a:xfrm>
            <a:off x="4333875" y="3448050"/>
            <a:ext cx="3524250" cy="1666875"/>
          </a:xfrm>
          <a:prstGeom prst="roundRect">
            <a:avLst>
              <a:gd name="adj" fmla="val 5714"/>
            </a:avLst>
          </a:prstGeom>
          <a:solidFill>
            <a:srgbClr val="F0F4F8"/>
          </a:solidFill>
          <a:ln w="9525">
            <a:solidFill>
              <a:srgbClr val="D0D8E0"/>
            </a:solidFill>
          </a:ln>
        </p:spPr>
      </p:sp>
      <p:sp>
        <p:nvSpPr>
          <p:cNvPr id="67" name="Rectangle 67"/>
          <p:cNvSpPr/>
          <p:nvPr/>
        </p:nvSpPr>
        <p:spPr>
          <a:xfrm>
            <a:off x="4333875" y="344805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4604385" y="3604260"/>
            <a:ext cx="20467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891B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步骤⑤ 腻子层 — 最容易翻车</a:t>
            </a:r>
            <a:endParaRPr lang="zh-CN" sz="1200" b="1" dirty="0">
              <a:solidFill>
                <a:srgbClr val="0891B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4606290" y="3887152"/>
            <a:ext cx="20989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必须认准</a:t>
            </a:r>
            <a:r>
              <a:rPr lang="zh-CN" sz="1050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JG/T 298-2010 N型</a:t>
            </a:r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标识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4606290" y="4115752"/>
            <a:ext cx="17138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粉料:水 ≈ 1:0.35 搅拌均匀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4606290" y="4344352"/>
            <a:ext cx="17138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批刮 2遍，每遍厚度 1-2mm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4606290" y="4572952"/>
            <a:ext cx="20849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间隔</a:t>
            </a:r>
            <a:r>
              <a:rPr lang="zh-CN" sz="1050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24 小时</a:t>
            </a:r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完全干透再批下一遍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3" name="Rectangle 73"/>
          <p:cNvSpPr/>
          <p:nvPr/>
        </p:nvSpPr>
        <p:spPr>
          <a:xfrm>
            <a:off x="4619625" y="4800600"/>
            <a:ext cx="857250" cy="209550"/>
          </a:xfrm>
          <a:prstGeom prst="roundRect">
            <a:avLst>
              <a:gd name="adj" fmla="val 50000"/>
            </a:avLst>
          </a:prstGeom>
          <a:solidFill>
            <a:srgbClr val="0891B2">
              <a:alpha val="10000"/>
            </a:srgbClr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4548509" y="4855845"/>
            <a:ext cx="9994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891B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京东搜美巢800JJ</a:t>
            </a:r>
            <a:endParaRPr lang="zh-CN" sz="900" b="1" dirty="0">
              <a:solidFill>
                <a:srgbClr val="0891B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5" name="Rectangle 75"/>
          <p:cNvSpPr/>
          <p:nvPr/>
        </p:nvSpPr>
        <p:spPr>
          <a:xfrm>
            <a:off x="8096250" y="3448050"/>
            <a:ext cx="3524250" cy="1666875"/>
          </a:xfrm>
          <a:prstGeom prst="roundRect">
            <a:avLst>
              <a:gd name="adj" fmla="val 5714"/>
            </a:avLst>
          </a:prstGeom>
          <a:solidFill>
            <a:srgbClr val="F0F4F8"/>
          </a:solidFill>
          <a:ln w="9525">
            <a:solidFill>
              <a:srgbClr val="D0D8E0"/>
            </a:solidFill>
          </a:ln>
        </p:spPr>
      </p:sp>
      <p:sp>
        <p:nvSpPr>
          <p:cNvPr id="76" name="Rectangle 76"/>
          <p:cNvSpPr/>
          <p:nvPr/>
        </p:nvSpPr>
        <p:spPr>
          <a:xfrm>
            <a:off x="8096250" y="344805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E8612C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8366760" y="360426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材料采购清单</a:t>
            </a:r>
            <a:endParaRPr lang="zh-CN" sz="1200" b="1" dirty="0">
              <a:solidFill>
                <a:srgbClr val="E8612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8368665" y="3887152"/>
            <a:ext cx="25049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· 84消毒液 2-3瓶 · 防水型墙固 10-15kg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8368665" y="4115752"/>
            <a:ext cx="1846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· 渗透结晶防水涂料 35-50kg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8368665" y="4344352"/>
            <a:ext cx="1545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· N型耐水腻子 80-100kg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8368665" y="4572952"/>
            <a:ext cx="25399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· 抗碱底漆 5-8kg · 防霉乳胶漆 15-20kg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8369618" y="4847749"/>
            <a:ext cx="26770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按100m²墙面估算 · 京东/天猫品牌旗舰店采购</a:t>
            </a:r>
            <a:endParaRPr lang="zh-CN" sz="975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3" name="Rectangle 83"/>
          <p:cNvSpPr/>
          <p:nvPr/>
        </p:nvSpPr>
        <p:spPr>
          <a:xfrm>
            <a:off x="571500" y="5667375"/>
            <a:ext cx="11049000" cy="730250"/>
          </a:xfrm>
          <a:prstGeom prst="roundRect">
            <a:avLst>
              <a:gd name="adj" fmla="val 15385"/>
            </a:avLst>
          </a:prstGeom>
          <a:solidFill>
            <a:srgbClr val="E8612C">
              <a:alpha val="6000"/>
            </a:srgbClr>
          </a:solidFill>
          <a:ln w="9525">
            <a:solidFill>
              <a:srgbClr val="E8612C">
                <a:alpha val="20000"/>
              </a:srgbClr>
            </a:solidFill>
          </a:ln>
        </p:spPr>
      </p:sp>
      <p:sp>
        <p:nvSpPr>
          <p:cNvPr id="84" name="Freeform 84"/>
          <p:cNvSpPr/>
          <p:nvPr/>
        </p:nvSpPr>
        <p:spPr>
          <a:xfrm>
            <a:off x="809625" y="5838825"/>
            <a:ext cx="228600" cy="214312"/>
          </a:xfrm>
          <a:custGeom>
            <a:avLst/>
            <a:gdLst/>
            <a:ahLst/>
            <a:cxnLst/>
            <a:rect l="l" t="t" r="r" b="b"/>
            <a:pathLst>
              <a:path w="228600" h="214312">
                <a:moveTo>
                  <a:pt x="228600" y="214312"/>
                </a:moveTo>
                <a:lnTo>
                  <a:pt x="0" y="214312"/>
                </a:lnTo>
                <a:lnTo>
                  <a:pt x="0" y="171450"/>
                </a:lnTo>
                <a:lnTo>
                  <a:pt x="100012" y="0"/>
                </a:lnTo>
                <a:lnTo>
                  <a:pt x="128588" y="0"/>
                </a:lnTo>
                <a:lnTo>
                  <a:pt x="228600" y="171450"/>
                </a:lnTo>
                <a:lnTo>
                  <a:pt x="228600" y="214312"/>
                </a:lnTo>
                <a:close/>
                <a:moveTo>
                  <a:pt x="100012" y="57150"/>
                </a:moveTo>
                <a:lnTo>
                  <a:pt x="128588" y="57150"/>
                </a:lnTo>
                <a:lnTo>
                  <a:pt x="128588" y="128588"/>
                </a:lnTo>
                <a:lnTo>
                  <a:pt x="100012" y="128588"/>
                </a:lnTo>
                <a:lnTo>
                  <a:pt x="100012" y="57150"/>
                </a:lnTo>
                <a:close/>
                <a:moveTo>
                  <a:pt x="100012" y="157162"/>
                </a:moveTo>
                <a:lnTo>
                  <a:pt x="128588" y="157162"/>
                </a:lnTo>
                <a:lnTo>
                  <a:pt x="128588" y="185738"/>
                </a:lnTo>
                <a:lnTo>
                  <a:pt x="100012" y="185738"/>
                </a:lnTo>
                <a:lnTo>
                  <a:pt x="100012" y="157162"/>
                </a:lnTo>
                <a:close/>
              </a:path>
            </a:pathLst>
          </a:custGeom>
          <a:solidFill>
            <a:srgbClr val="E8612C"/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1127760" y="57759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关键提醒</a:t>
            </a:r>
            <a:endParaRPr lang="zh-CN" sz="1200" b="1" dirty="0">
              <a:solidFill>
                <a:srgbClr val="E8612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6" name="TextBox 86"/>
          <p:cNvSpPr txBox="1"/>
          <p:nvPr/>
        </p:nvSpPr>
        <p:spPr>
          <a:xfrm>
            <a:off x="1129665" y="5982652"/>
            <a:ext cx="52563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必须用N型水泥基耐水腻子（JG/T 298-2010），普通石膏基腻子遇潮即粉化 = 白做！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7" name="TextBox 87"/>
          <p:cNvSpPr txBox="1"/>
          <p:nvPr/>
        </p:nvSpPr>
        <p:spPr>
          <a:xfrm>
            <a:off x="11329487" y="6530816"/>
            <a:ext cx="3014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 / 10</a:t>
            </a:r>
            <a:endParaRPr lang="zh-CN" sz="825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  <p:bldP spid="28" grpId="0"/>
      <p:bldP spid="35" grpId="0"/>
      <p:bldP spid="42" grpId="0"/>
      <p:bldP spid="49" grpId="0"/>
      <p:bldP spid="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0D4F8B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264795"/>
            <a:ext cx="308533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D4F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材料清单与用量详表</a:t>
            </a:r>
            <a:endParaRPr lang="zh-CN" sz="2400" b="1" dirty="0">
              <a:solidFill>
                <a:srgbClr val="0D4F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58165" y="648652"/>
            <a:ext cx="4227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按 100m² 墙面计算 · 京东/天猫品牌旗舰店搜索对应关键词即可购买</a:t>
            </a:r>
            <a:endParaRPr lang="zh-CN" sz="105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76" name="Group 76"/>
          <p:cNvGrpSpPr/>
          <p:nvPr/>
        </p:nvGrpSpPr>
        <p:grpSpPr>
          <a:xfrm>
            <a:off x="571500" y="1000125"/>
            <a:ext cx="11049000" cy="4953000"/>
            <a:chOff x="571500" y="1000125"/>
            <a:chExt cx="11049000" cy="4953000"/>
          </a:xfrm>
        </p:grpSpPr>
        <p:sp>
          <p:nvSpPr>
            <p:cNvPr id="6" name="Rectangle 6"/>
            <p:cNvSpPr/>
            <p:nvPr/>
          </p:nvSpPr>
          <p:spPr>
            <a:xfrm>
              <a:off x="571500" y="1000125"/>
              <a:ext cx="11049000" cy="4953000"/>
            </a:xfrm>
            <a:prstGeom prst="rect">
              <a:avLst/>
            </a:prstGeom>
            <a:noFill/>
            <a:ln w="14288">
              <a:solidFill>
                <a:srgbClr val="D0D8E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000125"/>
              <a:ext cx="11049000" cy="419100"/>
            </a:xfrm>
            <a:prstGeom prst="rect">
              <a:avLst/>
            </a:prstGeom>
            <a:solidFill>
              <a:srgbClr val="0D4F8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1040" y="11534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材料名称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01290" y="1153478"/>
              <a:ext cx="923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用量 (100m²)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77665" y="11534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用法要诀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68665" y="11534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参考品牌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83165" y="115347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京东搜关键词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2476500" y="1000125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D0D8E0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905250" y="1000125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D0D8E0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8096250" y="1000125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D0D8E0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9906000" y="1000125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D0D8E0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571500" y="14192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4762">
              <a:solidFill>
                <a:srgbClr val="E2E8F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0088" y="1526381"/>
              <a:ext cx="6744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84消毒液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01290" y="1534478"/>
              <a:ext cx="1188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2-3瓶 (500ml/瓶)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78618" y="1542574"/>
              <a:ext cx="26185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1:10兑水，湿敷霉变区域10-15分钟后清水擦净</a:t>
              </a:r>
              <a:endPara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68665" y="1534478"/>
              <a:ext cx="8877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蓝月亮 / 滴露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085070" y="1550670"/>
              <a:ext cx="9109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84消毒液 家庭装</a:t>
              </a:r>
              <a:endParaRPr lang="zh-CN" sz="900" dirty="0">
                <a:solidFill>
                  <a:srgbClr val="0891B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71500" y="1762125"/>
              <a:ext cx="11049000" cy="5334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571500" y="17621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4762">
              <a:solidFill>
                <a:srgbClr val="E2E8F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0088" y="1869281"/>
              <a:ext cx="19188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防水型墙固（渗透界面剂）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01290" y="1877378"/>
              <a:ext cx="4957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10-15kg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78618" y="1885474"/>
              <a:ext cx="30411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开桶即用，辊涂1遍，覆盖率8-10m²/kg，封闭毛细孔</a:t>
              </a:r>
              <a:endPara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68665" y="1877378"/>
              <a:ext cx="146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东方雨虹 / 德高 / 立邦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085070" y="1893570"/>
              <a:ext cx="11750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东方雨虹 墙固 界面剂</a:t>
              </a:r>
              <a:endParaRPr lang="zh-CN" sz="900" dirty="0">
                <a:solidFill>
                  <a:srgbClr val="0891B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Line 30"/>
            <p:cNvSpPr/>
            <p:nvPr/>
          </p:nvSpPr>
          <p:spPr>
            <a:xfrm>
              <a:off x="571500" y="22955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4762">
              <a:solidFill>
                <a:srgbClr val="E2E8F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0088" y="2402681"/>
              <a:ext cx="17612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水泥基渗透结晶防水涂料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01290" y="2410778"/>
              <a:ext cx="10628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35-50kg（2遍）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78618" y="2418874"/>
              <a:ext cx="33076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粉:水≈1:0.3搅拌，横竖交叉2遍，厚度≥1.5mm，养护48h</a:t>
              </a:r>
              <a:endPara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68665" y="2410778"/>
              <a:ext cx="16298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东方雨虹 / 德高K11 / 青龙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085070" y="2426970"/>
              <a:ext cx="7609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德高K11通用型</a:t>
              </a:r>
              <a:endParaRPr lang="zh-CN" sz="900" dirty="0">
                <a:solidFill>
                  <a:srgbClr val="0891B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" y="2638425"/>
              <a:ext cx="11049000" cy="5334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571500" y="26384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4762">
              <a:solidFill>
                <a:srgbClr val="E2E8F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0088" y="2745581"/>
              <a:ext cx="13753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N型水泥基耐水腻子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701290" y="2753678"/>
              <a:ext cx="11048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80-100kg（2遍）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178618" y="2761774"/>
              <a:ext cx="31191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粉:水≈1:0.35搅拌，批刮2遍，每遍1-2mm，间隔≥24h</a:t>
              </a:r>
              <a:endPara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68665" y="2753678"/>
              <a:ext cx="1188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德高 / 美巢 / 立邦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085070" y="2769870"/>
              <a:ext cx="9889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美巢 易呱平800JJ</a:t>
              </a:r>
              <a:endParaRPr lang="zh-CN" sz="900" dirty="0">
                <a:solidFill>
                  <a:srgbClr val="0891B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571500" y="31718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4762">
              <a:solidFill>
                <a:srgbClr val="E2E8F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0088" y="3278981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抗碱防潮底漆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701290" y="3287078"/>
              <a:ext cx="8737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5-8kg（1遍）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178618" y="3295174"/>
              <a:ext cx="23000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开桶搅匀，辊涂1遍，覆盖率10-12m²/kg</a:t>
              </a:r>
              <a:endPara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68665" y="3287078"/>
              <a:ext cx="146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多乐士 / 立邦 / 三棵树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085070" y="3303270"/>
              <a:ext cx="8989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多乐士 抗碱底漆</a:t>
              </a:r>
              <a:endParaRPr lang="zh-CN" sz="900" dirty="0">
                <a:solidFill>
                  <a:srgbClr val="0891B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71500" y="3514725"/>
              <a:ext cx="11049000" cy="5334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571500" y="35147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4762">
              <a:solidFill>
                <a:srgbClr val="E2E8F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0088" y="362188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防霉乳胶漆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701290" y="3629978"/>
              <a:ext cx="1027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15-20kg（2遍）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178618" y="3638074"/>
              <a:ext cx="31321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开桶搅匀，辊涂2遍，间隔2-4h，覆盖率6-8m²/kg/遍</a:t>
              </a:r>
              <a:endPara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68665" y="3629978"/>
              <a:ext cx="1888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多乐士超净界 / 立邦 / 三棵树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085070" y="3646170"/>
              <a:ext cx="10189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多乐士 防霉乳胶漆</a:t>
              </a:r>
              <a:endParaRPr lang="zh-CN" sz="900" dirty="0">
                <a:solidFill>
                  <a:srgbClr val="0891B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Line 56"/>
            <p:cNvSpPr/>
            <p:nvPr/>
          </p:nvSpPr>
          <p:spPr>
            <a:xfrm>
              <a:off x="571500" y="40481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4762">
              <a:solidFill>
                <a:srgbClr val="E2E8F0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0088" y="4155281"/>
              <a:ext cx="2076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丙烯酸弹性防水涂料（外墙）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701290" y="4163378"/>
              <a:ext cx="10628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25-40kg（2遍）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178618" y="4171474"/>
              <a:ext cx="31321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开桶搅匀，辊涂2遍，间隔4-6h，覆盖率3-5m²/kg/遍</a:t>
              </a:r>
              <a:endPara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68665" y="4163378"/>
              <a:ext cx="146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东方雨虹 / 科顺 / 西卡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085070" y="4179570"/>
              <a:ext cx="8749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东方雨虹 HCA121</a:t>
              </a:r>
              <a:endParaRPr lang="zh-CN" sz="900" dirty="0">
                <a:solidFill>
                  <a:srgbClr val="0891B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71500" y="4391025"/>
              <a:ext cx="11049000" cy="5334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63" name="Line 63"/>
            <p:cNvSpPr/>
            <p:nvPr/>
          </p:nvSpPr>
          <p:spPr>
            <a:xfrm>
              <a:off x="571500" y="43910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4762">
              <a:solidFill>
                <a:srgbClr val="E2E8F0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00088" y="4498181"/>
              <a:ext cx="2076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外墙防水透明胶（替代方案）</a:t>
              </a:r>
              <a:endPara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701290" y="450627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10-15kg（2遍）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178618" y="4514374"/>
              <a:ext cx="30736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喷涂或辊涂2遍，覆盖率8-10m²/kg，透明不改变外观</a:t>
              </a:r>
              <a:endPara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368665" y="4506278"/>
              <a:ext cx="1027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东方雨虹 / 德高</a:t>
              </a:r>
              <a:endPara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085070" y="4522470"/>
              <a:ext cx="9049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东方雨虹 HCA123</a:t>
              </a:r>
              <a:endParaRPr lang="zh-CN" sz="900" dirty="0">
                <a:solidFill>
                  <a:srgbClr val="0891B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71500" y="4924425"/>
              <a:ext cx="11049000" cy="41910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70" name="Line 70"/>
            <p:cNvSpPr/>
            <p:nvPr/>
          </p:nvSpPr>
          <p:spPr>
            <a:xfrm>
              <a:off x="571500" y="49244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0D4F8B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00088" y="506968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D4F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材料费总计</a:t>
              </a:r>
              <a:endParaRPr lang="zh-CN" sz="1125" b="1" dirty="0">
                <a:solidFill>
                  <a:srgbClr val="0D4F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700338" y="5069681"/>
              <a:ext cx="14856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612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约 2,500 - 4,000 元</a:t>
              </a:r>
              <a:endParaRPr lang="zh-CN" sz="1125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178618" y="5085874"/>
              <a:ext cx="31776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以上为材料费估算，人工费另计（约材料费的1-1.5倍）</a:t>
              </a:r>
              <a:endPara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368665" y="5077778"/>
              <a:ext cx="20187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D4F8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建议京东/天猫品牌旗舰店购买</a:t>
              </a:r>
              <a:endParaRPr lang="zh-CN" sz="1050" b="1" dirty="0">
                <a:solidFill>
                  <a:srgbClr val="0D4F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085070" y="5093970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认准官方旗舰店</a:t>
              </a:r>
              <a:endParaRPr lang="zh-CN" sz="90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560070" y="6141720"/>
            <a:ext cx="68457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* 用量为经验估算值，实际用量因墙面状况、施工手法等有所差异。所有材料均可通过京东搜索对应关键词找到品牌官方旗舰店。</a:t>
            </a:r>
            <a:endParaRPr lang="zh-CN" sz="90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560070" y="6332220"/>
            <a:ext cx="51835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* 施工顺序：方案二（外墙）优先 → 方案一（内墙）跟进。每道工序必须完全干透再进行下一步。</a:t>
            </a:r>
            <a:endParaRPr lang="zh-CN" sz="90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11329487" y="6530816"/>
            <a:ext cx="3014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 / 10</a:t>
            </a:r>
            <a:endParaRPr lang="zh-CN" sz="825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0D4F8B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293370"/>
            <a:ext cx="38078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D4F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三大关键材料 · 用法详解</a:t>
            </a:r>
            <a:endParaRPr lang="zh-CN" sz="2400" b="1" dirty="0">
              <a:solidFill>
                <a:srgbClr val="0D4F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58165" y="705802"/>
            <a:ext cx="24069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用好这三样，防水工程就成功了一大半</a:t>
            </a:r>
            <a:endParaRPr lang="zh-CN" sz="105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571500" y="1095375"/>
            <a:ext cx="3524250" cy="5143500"/>
            <a:chOff x="571500" y="1095375"/>
            <a:chExt cx="3524250" cy="5143500"/>
          </a:xfrm>
        </p:grpSpPr>
        <p:sp>
          <p:nvSpPr>
            <p:cNvPr id="6" name="Rectangle 6"/>
            <p:cNvSpPr/>
            <p:nvPr/>
          </p:nvSpPr>
          <p:spPr>
            <a:xfrm>
              <a:off x="571500" y="1095375"/>
              <a:ext cx="3524250" cy="5143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D0D8E0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095375"/>
              <a:ext cx="3524250" cy="762000"/>
            </a:xfrm>
            <a:prstGeom prst="roundRect">
              <a:avLst>
                <a:gd name="adj" fmla="val 15000"/>
              </a:avLst>
            </a:prstGeom>
            <a:solidFill>
              <a:srgbClr val="0D4F8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743075"/>
              <a:ext cx="3524250" cy="114300"/>
            </a:xfrm>
            <a:prstGeom prst="rect">
              <a:avLst/>
            </a:prstGeom>
            <a:solidFill>
              <a:srgbClr val="0D4F8B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82253" y="1285875"/>
              <a:ext cx="350044" cy="400050"/>
            </a:xfrm>
            <a:custGeom>
              <a:avLst/>
              <a:gdLst/>
              <a:ahLst/>
              <a:cxnLst/>
              <a:rect l="l" t="t" r="r" b="b"/>
              <a:pathLst>
                <a:path w="350044" h="400050">
                  <a:moveTo>
                    <a:pt x="175022" y="400050"/>
                  </a:moveTo>
                  <a:lnTo>
                    <a:pt x="83763" y="334864"/>
                  </a:lnTo>
                  <a:cubicBezTo>
                    <a:pt x="31197" y="297317"/>
                    <a:pt x="0" y="236696"/>
                    <a:pt x="0" y="172098"/>
                  </a:cubicBezTo>
                  <a:lnTo>
                    <a:pt x="0" y="75009"/>
                  </a:lnTo>
                  <a:lnTo>
                    <a:pt x="175022" y="0"/>
                  </a:lnTo>
                  <a:lnTo>
                    <a:pt x="350044" y="75009"/>
                  </a:lnTo>
                  <a:lnTo>
                    <a:pt x="350044" y="172098"/>
                  </a:lnTo>
                  <a:cubicBezTo>
                    <a:pt x="350044" y="236696"/>
                    <a:pt x="318847" y="297317"/>
                    <a:pt x="266281" y="334864"/>
                  </a:cubicBezTo>
                  <a:lnTo>
                    <a:pt x="175022" y="400050"/>
                  </a:lnTo>
                  <a:close/>
                  <a:moveTo>
                    <a:pt x="280213" y="142696"/>
                  </a:moveTo>
                  <a:lnTo>
                    <a:pt x="244853" y="107336"/>
                  </a:lnTo>
                  <a:lnTo>
                    <a:pt x="150019" y="202170"/>
                  </a:lnTo>
                  <a:lnTo>
                    <a:pt x="105191" y="157342"/>
                  </a:lnTo>
                  <a:lnTo>
                    <a:pt x="69831" y="192702"/>
                  </a:lnTo>
                  <a:lnTo>
                    <a:pt x="150019" y="272889"/>
                  </a:lnTo>
                  <a:lnTo>
                    <a:pt x="280213" y="142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90650" y="130492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水泥基渗透结晶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97318" y="15711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防水涂料</a:t>
              </a:r>
              <a:endParaRPr lang="zh-CN" sz="975" dirty="0">
                <a:solidFill>
                  <a:srgbClr val="FFFFFF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Freeform 12"/>
            <p:cNvSpPr/>
            <p:nvPr/>
          </p:nvSpPr>
          <p:spPr>
            <a:xfrm>
              <a:off x="857250" y="2190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266700"/>
                  </a:moveTo>
                  <a:cubicBezTo>
                    <a:pt x="206998" y="266700"/>
                    <a:pt x="266700" y="206998"/>
                    <a:pt x="266700" y="133350"/>
                  </a:cubicBezTo>
                  <a:cubicBezTo>
                    <a:pt x="266700" y="59703"/>
                    <a:pt x="206998" y="0"/>
                    <a:pt x="133350" y="0"/>
                  </a:cubicBezTo>
                  <a:cubicBezTo>
                    <a:pt x="59703" y="0"/>
                    <a:pt x="0" y="59703"/>
                    <a:pt x="0" y="133350"/>
                  </a:cubicBezTo>
                  <a:cubicBezTo>
                    <a:pt x="0" y="206998"/>
                    <a:pt x="59703" y="266700"/>
                    <a:pt x="133350" y="266700"/>
                  </a:cubicBezTo>
                  <a:close/>
                  <a:moveTo>
                    <a:pt x="122783" y="50006"/>
                  </a:moveTo>
                  <a:lnTo>
                    <a:pt x="74791" y="63095"/>
                  </a:lnTo>
                  <a:lnTo>
                    <a:pt x="83562" y="95258"/>
                  </a:lnTo>
                  <a:lnTo>
                    <a:pt x="116681" y="86226"/>
                  </a:lnTo>
                  <a:lnTo>
                    <a:pt x="116681" y="183356"/>
                  </a:lnTo>
                  <a:lnTo>
                    <a:pt x="83344" y="183356"/>
                  </a:lnTo>
                  <a:lnTo>
                    <a:pt x="83344" y="216694"/>
                  </a:lnTo>
                  <a:lnTo>
                    <a:pt x="183356" y="216694"/>
                  </a:lnTo>
                  <a:lnTo>
                    <a:pt x="183356" y="183356"/>
                  </a:lnTo>
                  <a:lnTo>
                    <a:pt x="150019" y="183356"/>
                  </a:lnTo>
                  <a:lnTo>
                    <a:pt x="150019" y="50006"/>
                  </a:lnTo>
                  <a:lnTo>
                    <a:pt x="122783" y="50006"/>
                  </a:lnTo>
                  <a:close/>
                </a:path>
              </a:pathLst>
            </a:custGeom>
            <a:solidFill>
              <a:srgbClr val="0D4F8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23010" y="22517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搅拌配比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3915" y="2534602"/>
              <a:ext cx="1118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粉料:水 ≈ 1 : 0.3</a:t>
              </a:r>
              <a:endPara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27632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搅拌至无颗粒均匀糊状</a:t>
              </a:r>
              <a:endPara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857250" y="32385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266700"/>
                  </a:moveTo>
                  <a:cubicBezTo>
                    <a:pt x="206998" y="266700"/>
                    <a:pt x="266700" y="206998"/>
                    <a:pt x="266700" y="133350"/>
                  </a:cubicBezTo>
                  <a:cubicBezTo>
                    <a:pt x="266700" y="59703"/>
                    <a:pt x="206998" y="0"/>
                    <a:pt x="133350" y="0"/>
                  </a:cubicBezTo>
                  <a:cubicBezTo>
                    <a:pt x="59703" y="0"/>
                    <a:pt x="0" y="59703"/>
                    <a:pt x="0" y="133350"/>
                  </a:cubicBezTo>
                  <a:cubicBezTo>
                    <a:pt x="0" y="206998"/>
                    <a:pt x="59703" y="266700"/>
                    <a:pt x="133350" y="266700"/>
                  </a:cubicBezTo>
                  <a:close/>
                  <a:moveTo>
                    <a:pt x="133350" y="50006"/>
                  </a:moveTo>
                  <a:cubicBezTo>
                    <a:pt x="105732" y="50006"/>
                    <a:pt x="83344" y="72395"/>
                    <a:pt x="83344" y="100012"/>
                  </a:cubicBezTo>
                  <a:lnTo>
                    <a:pt x="116681" y="100012"/>
                  </a:lnTo>
                  <a:cubicBezTo>
                    <a:pt x="116681" y="90807"/>
                    <a:pt x="124144" y="83344"/>
                    <a:pt x="133350" y="83344"/>
                  </a:cubicBezTo>
                  <a:cubicBezTo>
                    <a:pt x="142556" y="83344"/>
                    <a:pt x="150019" y="90807"/>
                    <a:pt x="150019" y="100012"/>
                  </a:cubicBezTo>
                  <a:lnTo>
                    <a:pt x="150019" y="101566"/>
                  </a:lnTo>
                  <a:cubicBezTo>
                    <a:pt x="150019" y="106602"/>
                    <a:pt x="147934" y="111414"/>
                    <a:pt x="144260" y="114859"/>
                  </a:cubicBezTo>
                  <a:lnTo>
                    <a:pt x="83344" y="171968"/>
                  </a:lnTo>
                  <a:lnTo>
                    <a:pt x="83344" y="216694"/>
                  </a:lnTo>
                  <a:lnTo>
                    <a:pt x="183356" y="216694"/>
                  </a:lnTo>
                  <a:lnTo>
                    <a:pt x="183356" y="183356"/>
                  </a:lnTo>
                  <a:lnTo>
                    <a:pt x="119939" y="183356"/>
                  </a:lnTo>
                  <a:lnTo>
                    <a:pt x="167061" y="139180"/>
                  </a:lnTo>
                  <a:cubicBezTo>
                    <a:pt x="177457" y="129433"/>
                    <a:pt x="183356" y="115817"/>
                    <a:pt x="183356" y="101566"/>
                  </a:cubicBezTo>
                  <a:lnTo>
                    <a:pt x="183356" y="100012"/>
                  </a:lnTo>
                  <a:cubicBezTo>
                    <a:pt x="183356" y="72395"/>
                    <a:pt x="160968" y="50006"/>
                    <a:pt x="133350" y="50006"/>
                  </a:cubicBezTo>
                  <a:close/>
                </a:path>
              </a:pathLst>
            </a:custGeom>
            <a:solidFill>
              <a:srgbClr val="0D4F8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23010" y="32994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涂刷方式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3915" y="3582352"/>
              <a:ext cx="1125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横竖交叉涂刷 2遍</a:t>
              </a:r>
              <a:endPara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3915" y="3810952"/>
              <a:ext cx="11818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每遍间隔 2-4 小时</a:t>
              </a:r>
              <a:endPara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3915" y="4039552"/>
              <a:ext cx="10137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总厚度 ≥ 1.5mm</a:t>
              </a:r>
              <a:endPara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Freeform 21"/>
            <p:cNvSpPr/>
            <p:nvPr/>
          </p:nvSpPr>
          <p:spPr>
            <a:xfrm>
              <a:off x="857250" y="45148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266700"/>
                  </a:moveTo>
                  <a:cubicBezTo>
                    <a:pt x="206998" y="266700"/>
                    <a:pt x="266700" y="206998"/>
                    <a:pt x="266700" y="133350"/>
                  </a:cubicBezTo>
                  <a:cubicBezTo>
                    <a:pt x="266700" y="59703"/>
                    <a:pt x="206998" y="0"/>
                    <a:pt x="133350" y="0"/>
                  </a:cubicBezTo>
                  <a:cubicBezTo>
                    <a:pt x="59703" y="0"/>
                    <a:pt x="0" y="59703"/>
                    <a:pt x="0" y="133350"/>
                  </a:cubicBezTo>
                  <a:cubicBezTo>
                    <a:pt x="0" y="206998"/>
                    <a:pt x="59703" y="266700"/>
                    <a:pt x="133350" y="266700"/>
                  </a:cubicBezTo>
                  <a:close/>
                  <a:moveTo>
                    <a:pt x="133350" y="50006"/>
                  </a:moveTo>
                  <a:cubicBezTo>
                    <a:pt x="105732" y="50006"/>
                    <a:pt x="83344" y="72395"/>
                    <a:pt x="83344" y="100012"/>
                  </a:cubicBezTo>
                  <a:lnTo>
                    <a:pt x="116681" y="100012"/>
                  </a:lnTo>
                  <a:cubicBezTo>
                    <a:pt x="116681" y="90807"/>
                    <a:pt x="124144" y="83344"/>
                    <a:pt x="133350" y="83344"/>
                  </a:cubicBezTo>
                  <a:cubicBezTo>
                    <a:pt x="142556" y="83344"/>
                    <a:pt x="150019" y="90807"/>
                    <a:pt x="150019" y="100012"/>
                  </a:cubicBezTo>
                  <a:cubicBezTo>
                    <a:pt x="150019" y="109218"/>
                    <a:pt x="142556" y="116681"/>
                    <a:pt x="133350" y="116681"/>
                  </a:cubicBezTo>
                  <a:lnTo>
                    <a:pt x="116681" y="116681"/>
                  </a:lnTo>
                  <a:lnTo>
                    <a:pt x="116681" y="150019"/>
                  </a:lnTo>
                  <a:lnTo>
                    <a:pt x="133350" y="150019"/>
                  </a:lnTo>
                  <a:cubicBezTo>
                    <a:pt x="142556" y="150019"/>
                    <a:pt x="150019" y="157482"/>
                    <a:pt x="150019" y="166688"/>
                  </a:cubicBezTo>
                  <a:cubicBezTo>
                    <a:pt x="150019" y="175894"/>
                    <a:pt x="142556" y="183356"/>
                    <a:pt x="133350" y="183356"/>
                  </a:cubicBezTo>
                  <a:cubicBezTo>
                    <a:pt x="124144" y="183356"/>
                    <a:pt x="116681" y="175894"/>
                    <a:pt x="116681" y="166688"/>
                  </a:cubicBezTo>
                  <a:lnTo>
                    <a:pt x="83344" y="166688"/>
                  </a:lnTo>
                  <a:cubicBezTo>
                    <a:pt x="83344" y="194306"/>
                    <a:pt x="105732" y="216694"/>
                    <a:pt x="133350" y="216694"/>
                  </a:cubicBezTo>
                  <a:cubicBezTo>
                    <a:pt x="160968" y="216694"/>
                    <a:pt x="183356" y="194306"/>
                    <a:pt x="183356" y="166688"/>
                  </a:cubicBezTo>
                  <a:cubicBezTo>
                    <a:pt x="183356" y="153880"/>
                    <a:pt x="178541" y="142197"/>
                    <a:pt x="170623" y="133350"/>
                  </a:cubicBezTo>
                  <a:cubicBezTo>
                    <a:pt x="178541" y="124503"/>
                    <a:pt x="183356" y="112820"/>
                    <a:pt x="183356" y="100012"/>
                  </a:cubicBezTo>
                  <a:cubicBezTo>
                    <a:pt x="183356" y="72395"/>
                    <a:pt x="160968" y="50006"/>
                    <a:pt x="133350" y="50006"/>
                  </a:cubicBezTo>
                  <a:close/>
                </a:path>
              </a:pathLst>
            </a:custGeom>
            <a:solidFill>
              <a:srgbClr val="0D4F8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23010" y="45758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养护要求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3915" y="4858702"/>
              <a:ext cx="1305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612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完工后养护 48 小时</a:t>
              </a:r>
              <a:endParaRPr lang="zh-CN" sz="1050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3915" y="50873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保持涂层湿润</a:t>
              </a:r>
              <a:endPara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57250" y="5476875"/>
              <a:ext cx="2952750" cy="533400"/>
            </a:xfrm>
            <a:prstGeom prst="roundRect">
              <a:avLst>
                <a:gd name="adj" fmla="val 14286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7742" y="559069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京东搜: </a:t>
              </a:r>
              <a:r>
                <a:rPr lang="zh-CN" sz="975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德高K11通用型</a:t>
              </a:r>
              <a:endParaRPr lang="zh-CN" sz="975" dirty="0">
                <a:solidFill>
                  <a:srgbClr val="0891B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7742" y="5781199"/>
              <a:ext cx="14224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参考: </a:t>
              </a:r>
              <a:r>
                <a:rPr lang="zh-CN" sz="975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东方雨虹 PCC-501</a:t>
              </a:r>
              <a:endParaRPr lang="zh-CN" sz="975" dirty="0">
                <a:solidFill>
                  <a:srgbClr val="0891B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333875" y="1095375"/>
            <a:ext cx="3524250" cy="5143500"/>
            <a:chOff x="4333875" y="1095375"/>
            <a:chExt cx="3524250" cy="5143500"/>
          </a:xfrm>
        </p:grpSpPr>
        <p:sp>
          <p:nvSpPr>
            <p:cNvPr id="29" name="Rectangle 29"/>
            <p:cNvSpPr/>
            <p:nvPr/>
          </p:nvSpPr>
          <p:spPr>
            <a:xfrm>
              <a:off x="4333875" y="1095375"/>
              <a:ext cx="3524250" cy="5143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D0D8E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33875" y="1095375"/>
              <a:ext cx="3524250" cy="762000"/>
            </a:xfrm>
            <a:prstGeom prst="roundRect">
              <a:avLst>
                <a:gd name="adj" fmla="val 15000"/>
              </a:avLst>
            </a:prstGeom>
            <a:solidFill>
              <a:srgbClr val="0891B2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33875" y="1743075"/>
              <a:ext cx="3524250" cy="114300"/>
            </a:xfrm>
            <a:prstGeom prst="rect">
              <a:avLst/>
            </a:prstGeom>
            <a:solidFill>
              <a:srgbClr val="0891B2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4644628" y="1285875"/>
              <a:ext cx="350044" cy="400050"/>
              <a:chOff x="4644628" y="1285875"/>
              <a:chExt cx="350044" cy="40005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4644628" y="1285875"/>
                <a:ext cx="350044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50044" h="200025">
                    <a:moveTo>
                      <a:pt x="0" y="125016"/>
                    </a:moveTo>
                    <a:lnTo>
                      <a:pt x="0" y="75009"/>
                    </a:lnTo>
                    <a:lnTo>
                      <a:pt x="175022" y="0"/>
                    </a:lnTo>
                    <a:lnTo>
                      <a:pt x="350044" y="75009"/>
                    </a:lnTo>
                    <a:lnTo>
                      <a:pt x="350044" y="125016"/>
                    </a:lnTo>
                    <a:lnTo>
                      <a:pt x="175022" y="200025"/>
                    </a:lnTo>
                    <a:lnTo>
                      <a:pt x="0" y="1250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644628" y="1560909"/>
                <a:ext cx="350044" cy="125016"/>
              </a:xfrm>
              <a:custGeom>
                <a:avLst/>
                <a:gdLst/>
                <a:ahLst/>
                <a:cxnLst/>
                <a:rect l="l" t="t" r="r" b="b"/>
                <a:pathLst>
                  <a:path w="350044" h="125016">
                    <a:moveTo>
                      <a:pt x="175022" y="125016"/>
                    </a:moveTo>
                    <a:lnTo>
                      <a:pt x="0" y="50006"/>
                    </a:lnTo>
                    <a:lnTo>
                      <a:pt x="0" y="0"/>
                    </a:lnTo>
                    <a:lnTo>
                      <a:pt x="175022" y="75009"/>
                    </a:lnTo>
                    <a:lnTo>
                      <a:pt x="350044" y="0"/>
                    </a:lnTo>
                    <a:lnTo>
                      <a:pt x="350044" y="50006"/>
                    </a:lnTo>
                    <a:lnTo>
                      <a:pt x="175022" y="1250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644628" y="1460897"/>
                <a:ext cx="350044" cy="125016"/>
              </a:xfrm>
              <a:custGeom>
                <a:avLst/>
                <a:gdLst/>
                <a:ahLst/>
                <a:cxnLst/>
                <a:rect l="l" t="t" r="r" b="b"/>
                <a:pathLst>
                  <a:path w="350044" h="125016">
                    <a:moveTo>
                      <a:pt x="0" y="50006"/>
                    </a:moveTo>
                    <a:lnTo>
                      <a:pt x="175022" y="125016"/>
                    </a:lnTo>
                    <a:lnTo>
                      <a:pt x="350044" y="50006"/>
                    </a:lnTo>
                    <a:lnTo>
                      <a:pt x="350044" y="0"/>
                    </a:lnTo>
                    <a:lnTo>
                      <a:pt x="175022" y="75009"/>
                    </a:lnTo>
                    <a:lnTo>
                      <a:pt x="0" y="0"/>
                    </a:lnTo>
                    <a:lnTo>
                      <a:pt x="0" y="5000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5153025" y="1304925"/>
              <a:ext cx="18338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N型水泥基耐水腻子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59692" y="1571149"/>
              <a:ext cx="11299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JG/T 298-2010 N型</a:t>
              </a:r>
              <a:endParaRPr lang="zh-CN" sz="975" dirty="0">
                <a:solidFill>
                  <a:srgbClr val="FFFFFF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Freeform 38"/>
            <p:cNvSpPr/>
            <p:nvPr/>
          </p:nvSpPr>
          <p:spPr>
            <a:xfrm>
              <a:off x="4619625" y="2190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266700"/>
                  </a:moveTo>
                  <a:cubicBezTo>
                    <a:pt x="206998" y="266700"/>
                    <a:pt x="266700" y="206998"/>
                    <a:pt x="266700" y="133350"/>
                  </a:cubicBezTo>
                  <a:cubicBezTo>
                    <a:pt x="266700" y="59703"/>
                    <a:pt x="206998" y="0"/>
                    <a:pt x="133350" y="0"/>
                  </a:cubicBezTo>
                  <a:cubicBezTo>
                    <a:pt x="59703" y="0"/>
                    <a:pt x="0" y="59703"/>
                    <a:pt x="0" y="133350"/>
                  </a:cubicBezTo>
                  <a:cubicBezTo>
                    <a:pt x="0" y="206998"/>
                    <a:pt x="59703" y="266700"/>
                    <a:pt x="133350" y="266700"/>
                  </a:cubicBezTo>
                  <a:close/>
                  <a:moveTo>
                    <a:pt x="122783" y="50006"/>
                  </a:moveTo>
                  <a:lnTo>
                    <a:pt x="74791" y="63095"/>
                  </a:lnTo>
                  <a:lnTo>
                    <a:pt x="83562" y="95258"/>
                  </a:lnTo>
                  <a:lnTo>
                    <a:pt x="116681" y="86226"/>
                  </a:lnTo>
                  <a:lnTo>
                    <a:pt x="116681" y="183356"/>
                  </a:lnTo>
                  <a:lnTo>
                    <a:pt x="83344" y="183356"/>
                  </a:lnTo>
                  <a:lnTo>
                    <a:pt x="83344" y="216694"/>
                  </a:lnTo>
                  <a:lnTo>
                    <a:pt x="183356" y="216694"/>
                  </a:lnTo>
                  <a:lnTo>
                    <a:pt x="183356" y="183356"/>
                  </a:lnTo>
                  <a:lnTo>
                    <a:pt x="150019" y="183356"/>
                  </a:lnTo>
                  <a:lnTo>
                    <a:pt x="150019" y="50006"/>
                  </a:lnTo>
                  <a:lnTo>
                    <a:pt x="122783" y="50006"/>
                  </a:lnTo>
                  <a:close/>
                </a:path>
              </a:pathLst>
            </a:custGeom>
            <a:solidFill>
              <a:srgbClr val="0891B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985385" y="22517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识别标准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06290" y="2534602"/>
              <a:ext cx="14306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612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认准包装「N型」标识</a:t>
              </a:r>
              <a:endParaRPr lang="zh-CN" sz="1050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06290" y="2763202"/>
              <a:ext cx="1727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无标注 = 普通腻子，不可用</a:t>
              </a:r>
              <a:endPara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06290" y="2991802"/>
              <a:ext cx="985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保质期仅12个月</a:t>
              </a:r>
              <a:endPara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Freeform 43"/>
            <p:cNvSpPr/>
            <p:nvPr/>
          </p:nvSpPr>
          <p:spPr>
            <a:xfrm>
              <a:off x="4619625" y="34671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266700"/>
                  </a:moveTo>
                  <a:cubicBezTo>
                    <a:pt x="206998" y="266700"/>
                    <a:pt x="266700" y="206998"/>
                    <a:pt x="266700" y="133350"/>
                  </a:cubicBezTo>
                  <a:cubicBezTo>
                    <a:pt x="266700" y="59703"/>
                    <a:pt x="206998" y="0"/>
                    <a:pt x="133350" y="0"/>
                  </a:cubicBezTo>
                  <a:cubicBezTo>
                    <a:pt x="59703" y="0"/>
                    <a:pt x="0" y="59703"/>
                    <a:pt x="0" y="133350"/>
                  </a:cubicBezTo>
                  <a:cubicBezTo>
                    <a:pt x="0" y="206998"/>
                    <a:pt x="59703" y="266700"/>
                    <a:pt x="133350" y="266700"/>
                  </a:cubicBezTo>
                  <a:close/>
                  <a:moveTo>
                    <a:pt x="133350" y="50006"/>
                  </a:moveTo>
                  <a:cubicBezTo>
                    <a:pt x="105732" y="50006"/>
                    <a:pt x="83344" y="72395"/>
                    <a:pt x="83344" y="100012"/>
                  </a:cubicBezTo>
                  <a:lnTo>
                    <a:pt x="116681" y="100012"/>
                  </a:lnTo>
                  <a:cubicBezTo>
                    <a:pt x="116681" y="90807"/>
                    <a:pt x="124144" y="83344"/>
                    <a:pt x="133350" y="83344"/>
                  </a:cubicBezTo>
                  <a:cubicBezTo>
                    <a:pt x="142556" y="83344"/>
                    <a:pt x="150019" y="90807"/>
                    <a:pt x="150019" y="100012"/>
                  </a:cubicBezTo>
                  <a:lnTo>
                    <a:pt x="150019" y="101566"/>
                  </a:lnTo>
                  <a:cubicBezTo>
                    <a:pt x="150019" y="106602"/>
                    <a:pt x="147934" y="111414"/>
                    <a:pt x="144260" y="114859"/>
                  </a:cubicBezTo>
                  <a:lnTo>
                    <a:pt x="83344" y="171968"/>
                  </a:lnTo>
                  <a:lnTo>
                    <a:pt x="83344" y="216694"/>
                  </a:lnTo>
                  <a:lnTo>
                    <a:pt x="183356" y="216694"/>
                  </a:lnTo>
                  <a:lnTo>
                    <a:pt x="183356" y="183356"/>
                  </a:lnTo>
                  <a:lnTo>
                    <a:pt x="119939" y="183356"/>
                  </a:lnTo>
                  <a:lnTo>
                    <a:pt x="167061" y="139180"/>
                  </a:lnTo>
                  <a:cubicBezTo>
                    <a:pt x="177457" y="129433"/>
                    <a:pt x="183356" y="115817"/>
                    <a:pt x="183356" y="101566"/>
                  </a:cubicBezTo>
                  <a:lnTo>
                    <a:pt x="183356" y="100012"/>
                  </a:lnTo>
                  <a:cubicBezTo>
                    <a:pt x="183356" y="72395"/>
                    <a:pt x="160968" y="50006"/>
                    <a:pt x="133350" y="50006"/>
                  </a:cubicBezTo>
                  <a:close/>
                </a:path>
              </a:pathLst>
            </a:custGeom>
            <a:solidFill>
              <a:srgbClr val="0891B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985385" y="35280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施工要诀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06290" y="3810952"/>
              <a:ext cx="15178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粉料:水 ≈ 1 : 0.35 搅拌</a:t>
              </a:r>
              <a:endPara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06290" y="4039552"/>
              <a:ext cx="14338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批刮 2遍，每遍 1-2mm</a:t>
              </a:r>
              <a:endPara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Freeform 47"/>
            <p:cNvSpPr/>
            <p:nvPr/>
          </p:nvSpPr>
          <p:spPr>
            <a:xfrm>
              <a:off x="4619625" y="45148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266700"/>
                  </a:moveTo>
                  <a:cubicBezTo>
                    <a:pt x="206998" y="266700"/>
                    <a:pt x="266700" y="206998"/>
                    <a:pt x="266700" y="133350"/>
                  </a:cubicBezTo>
                  <a:cubicBezTo>
                    <a:pt x="266700" y="59703"/>
                    <a:pt x="206998" y="0"/>
                    <a:pt x="133350" y="0"/>
                  </a:cubicBezTo>
                  <a:cubicBezTo>
                    <a:pt x="59703" y="0"/>
                    <a:pt x="0" y="59703"/>
                    <a:pt x="0" y="133350"/>
                  </a:cubicBezTo>
                  <a:cubicBezTo>
                    <a:pt x="0" y="206998"/>
                    <a:pt x="59703" y="266700"/>
                    <a:pt x="133350" y="266700"/>
                  </a:cubicBezTo>
                  <a:close/>
                  <a:moveTo>
                    <a:pt x="133350" y="50006"/>
                  </a:moveTo>
                  <a:cubicBezTo>
                    <a:pt x="105732" y="50006"/>
                    <a:pt x="83344" y="72395"/>
                    <a:pt x="83344" y="100012"/>
                  </a:cubicBezTo>
                  <a:lnTo>
                    <a:pt x="116681" y="100012"/>
                  </a:lnTo>
                  <a:cubicBezTo>
                    <a:pt x="116681" y="90807"/>
                    <a:pt x="124144" y="83344"/>
                    <a:pt x="133350" y="83344"/>
                  </a:cubicBezTo>
                  <a:cubicBezTo>
                    <a:pt x="142556" y="83344"/>
                    <a:pt x="150019" y="90807"/>
                    <a:pt x="150019" y="100012"/>
                  </a:cubicBezTo>
                  <a:cubicBezTo>
                    <a:pt x="150019" y="109218"/>
                    <a:pt x="142556" y="116681"/>
                    <a:pt x="133350" y="116681"/>
                  </a:cubicBezTo>
                  <a:lnTo>
                    <a:pt x="116681" y="116681"/>
                  </a:lnTo>
                  <a:lnTo>
                    <a:pt x="116681" y="150019"/>
                  </a:lnTo>
                  <a:lnTo>
                    <a:pt x="133350" y="150019"/>
                  </a:lnTo>
                  <a:cubicBezTo>
                    <a:pt x="142556" y="150019"/>
                    <a:pt x="150019" y="157482"/>
                    <a:pt x="150019" y="166688"/>
                  </a:cubicBezTo>
                  <a:cubicBezTo>
                    <a:pt x="150019" y="175894"/>
                    <a:pt x="142556" y="183356"/>
                    <a:pt x="133350" y="183356"/>
                  </a:cubicBezTo>
                  <a:cubicBezTo>
                    <a:pt x="124144" y="183356"/>
                    <a:pt x="116681" y="175894"/>
                    <a:pt x="116681" y="166688"/>
                  </a:cubicBezTo>
                  <a:lnTo>
                    <a:pt x="83344" y="166688"/>
                  </a:lnTo>
                  <a:cubicBezTo>
                    <a:pt x="83344" y="194306"/>
                    <a:pt x="105732" y="216694"/>
                    <a:pt x="133350" y="216694"/>
                  </a:cubicBezTo>
                  <a:cubicBezTo>
                    <a:pt x="160968" y="216694"/>
                    <a:pt x="183356" y="194306"/>
                    <a:pt x="183356" y="166688"/>
                  </a:cubicBezTo>
                  <a:cubicBezTo>
                    <a:pt x="183356" y="153880"/>
                    <a:pt x="178541" y="142197"/>
                    <a:pt x="170623" y="133350"/>
                  </a:cubicBezTo>
                  <a:cubicBezTo>
                    <a:pt x="178541" y="124503"/>
                    <a:pt x="183356" y="112820"/>
                    <a:pt x="183356" y="100012"/>
                  </a:cubicBezTo>
                  <a:cubicBezTo>
                    <a:pt x="183356" y="72395"/>
                    <a:pt x="160968" y="50006"/>
                    <a:pt x="133350" y="50006"/>
                  </a:cubicBezTo>
                  <a:close/>
                </a:path>
              </a:pathLst>
            </a:custGeom>
            <a:solidFill>
              <a:srgbClr val="0891B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985385" y="45758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干燥时间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606290" y="4858702"/>
              <a:ext cx="12836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612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每遍间隔 ≥ 24 小时</a:t>
              </a:r>
              <a:endParaRPr lang="zh-CN" sz="1050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606290" y="50873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完全干透再批下一遍</a:t>
              </a:r>
              <a:endPara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619625" y="5476875"/>
              <a:ext cx="2952750" cy="533400"/>
            </a:xfrm>
            <a:prstGeom prst="roundRect">
              <a:avLst>
                <a:gd name="adj" fmla="val 14286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750118" y="5590699"/>
              <a:ext cx="15719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京东搜: </a:t>
              </a:r>
              <a:r>
                <a:rPr lang="zh-CN" sz="975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美巢 易呱平800JJ</a:t>
              </a:r>
              <a:endParaRPr lang="zh-CN" sz="975" dirty="0">
                <a:solidFill>
                  <a:srgbClr val="0891B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750118" y="5781199"/>
              <a:ext cx="16759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参考: </a:t>
              </a:r>
              <a:r>
                <a:rPr lang="zh-CN" sz="975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德高内墙耐水腻子 N型</a:t>
              </a:r>
              <a:endParaRPr lang="zh-CN" sz="975" dirty="0">
                <a:solidFill>
                  <a:srgbClr val="0891B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096250" y="1095375"/>
            <a:ext cx="3524250" cy="5143500"/>
            <a:chOff x="8096250" y="1095375"/>
            <a:chExt cx="3524250" cy="5143500"/>
          </a:xfrm>
        </p:grpSpPr>
        <p:sp>
          <p:nvSpPr>
            <p:cNvPr id="55" name="Rectangle 55"/>
            <p:cNvSpPr/>
            <p:nvPr/>
          </p:nvSpPr>
          <p:spPr>
            <a:xfrm>
              <a:off x="8096250" y="1095375"/>
              <a:ext cx="3524250" cy="5143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D0D8E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096250" y="1095375"/>
              <a:ext cx="3524250" cy="762000"/>
            </a:xfrm>
            <a:prstGeom prst="roundRect">
              <a:avLst>
                <a:gd name="adj" fmla="val 15000"/>
              </a:avLst>
            </a:prstGeom>
            <a:solidFill>
              <a:srgbClr val="E8612C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096250" y="1743075"/>
              <a:ext cx="3524250" cy="114300"/>
            </a:xfrm>
            <a:prstGeom prst="rect">
              <a:avLst/>
            </a:prstGeom>
            <a:solidFill>
              <a:srgbClr val="E8612C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8407003" y="1285875"/>
              <a:ext cx="375047" cy="400050"/>
            </a:xfrm>
            <a:custGeom>
              <a:avLst/>
              <a:gdLst/>
              <a:ahLst/>
              <a:cxnLst/>
              <a:rect l="l" t="t" r="r" b="b"/>
              <a:pathLst>
                <a:path w="375047" h="400050">
                  <a:moveTo>
                    <a:pt x="0" y="0"/>
                  </a:moveTo>
                  <a:lnTo>
                    <a:pt x="300038" y="0"/>
                  </a:lnTo>
                  <a:lnTo>
                    <a:pt x="300038" y="50006"/>
                  </a:lnTo>
                  <a:lnTo>
                    <a:pt x="375047" y="50006"/>
                  </a:lnTo>
                  <a:lnTo>
                    <a:pt x="375047" y="195235"/>
                  </a:lnTo>
                  <a:lnTo>
                    <a:pt x="200025" y="232740"/>
                  </a:lnTo>
                  <a:lnTo>
                    <a:pt x="200025" y="250031"/>
                  </a:lnTo>
                  <a:lnTo>
                    <a:pt x="225028" y="250031"/>
                  </a:lnTo>
                  <a:lnTo>
                    <a:pt x="225028" y="400050"/>
                  </a:lnTo>
                  <a:lnTo>
                    <a:pt x="125016" y="400050"/>
                  </a:lnTo>
                  <a:lnTo>
                    <a:pt x="125016" y="250031"/>
                  </a:lnTo>
                  <a:lnTo>
                    <a:pt x="150019" y="250031"/>
                  </a:lnTo>
                  <a:lnTo>
                    <a:pt x="150019" y="192314"/>
                  </a:lnTo>
                  <a:lnTo>
                    <a:pt x="325041" y="154809"/>
                  </a:lnTo>
                  <a:lnTo>
                    <a:pt x="325041" y="100012"/>
                  </a:lnTo>
                  <a:lnTo>
                    <a:pt x="300038" y="100012"/>
                  </a:lnTo>
                  <a:lnTo>
                    <a:pt x="300038" y="125016"/>
                  </a:lnTo>
                  <a:lnTo>
                    <a:pt x="0" y="1250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915400" y="130492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丙烯酸弹性防水涂料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22068" y="15711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外墙专用</a:t>
              </a:r>
              <a:endParaRPr lang="zh-CN" sz="975" dirty="0">
                <a:solidFill>
                  <a:srgbClr val="FFFFFF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Freeform 61"/>
            <p:cNvSpPr/>
            <p:nvPr/>
          </p:nvSpPr>
          <p:spPr>
            <a:xfrm>
              <a:off x="8382000" y="21907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266700"/>
                  </a:moveTo>
                  <a:cubicBezTo>
                    <a:pt x="206998" y="266700"/>
                    <a:pt x="266700" y="206998"/>
                    <a:pt x="266700" y="133350"/>
                  </a:cubicBezTo>
                  <a:cubicBezTo>
                    <a:pt x="266700" y="59703"/>
                    <a:pt x="206998" y="0"/>
                    <a:pt x="133350" y="0"/>
                  </a:cubicBezTo>
                  <a:cubicBezTo>
                    <a:pt x="59703" y="0"/>
                    <a:pt x="0" y="59703"/>
                    <a:pt x="0" y="133350"/>
                  </a:cubicBezTo>
                  <a:cubicBezTo>
                    <a:pt x="0" y="206998"/>
                    <a:pt x="59703" y="266700"/>
                    <a:pt x="133350" y="266700"/>
                  </a:cubicBezTo>
                  <a:close/>
                  <a:moveTo>
                    <a:pt x="122783" y="50006"/>
                  </a:moveTo>
                  <a:lnTo>
                    <a:pt x="74791" y="63095"/>
                  </a:lnTo>
                  <a:lnTo>
                    <a:pt x="83562" y="95258"/>
                  </a:lnTo>
                  <a:lnTo>
                    <a:pt x="116681" y="86226"/>
                  </a:lnTo>
                  <a:lnTo>
                    <a:pt x="116681" y="183356"/>
                  </a:lnTo>
                  <a:lnTo>
                    <a:pt x="83344" y="183356"/>
                  </a:lnTo>
                  <a:lnTo>
                    <a:pt x="83344" y="216694"/>
                  </a:lnTo>
                  <a:lnTo>
                    <a:pt x="183356" y="216694"/>
                  </a:lnTo>
                  <a:lnTo>
                    <a:pt x="183356" y="183356"/>
                  </a:lnTo>
                  <a:lnTo>
                    <a:pt x="150019" y="183356"/>
                  </a:lnTo>
                  <a:lnTo>
                    <a:pt x="150019" y="50006"/>
                  </a:lnTo>
                  <a:lnTo>
                    <a:pt x="122783" y="50006"/>
                  </a:lnTo>
                  <a:close/>
                </a:path>
              </a:pathLst>
            </a:custGeom>
            <a:solidFill>
              <a:srgbClr val="E8612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747760" y="22517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施工准备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68665" y="25346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开桶即用，无需加水</a:t>
              </a:r>
              <a:endPara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68665" y="27632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基面清洁干燥无明水</a:t>
              </a:r>
              <a:endPara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368665" y="29918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裂缝先用砂浆填补</a:t>
              </a:r>
              <a:endPara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Freeform 66"/>
            <p:cNvSpPr/>
            <p:nvPr/>
          </p:nvSpPr>
          <p:spPr>
            <a:xfrm>
              <a:off x="8382000" y="34671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266700"/>
                  </a:moveTo>
                  <a:cubicBezTo>
                    <a:pt x="206998" y="266700"/>
                    <a:pt x="266700" y="206998"/>
                    <a:pt x="266700" y="133350"/>
                  </a:cubicBezTo>
                  <a:cubicBezTo>
                    <a:pt x="266700" y="59703"/>
                    <a:pt x="206998" y="0"/>
                    <a:pt x="133350" y="0"/>
                  </a:cubicBezTo>
                  <a:cubicBezTo>
                    <a:pt x="59703" y="0"/>
                    <a:pt x="0" y="59703"/>
                    <a:pt x="0" y="133350"/>
                  </a:cubicBezTo>
                  <a:cubicBezTo>
                    <a:pt x="0" y="206998"/>
                    <a:pt x="59703" y="266700"/>
                    <a:pt x="133350" y="266700"/>
                  </a:cubicBezTo>
                  <a:close/>
                  <a:moveTo>
                    <a:pt x="133350" y="50006"/>
                  </a:moveTo>
                  <a:cubicBezTo>
                    <a:pt x="105732" y="50006"/>
                    <a:pt x="83344" y="72395"/>
                    <a:pt x="83344" y="100012"/>
                  </a:cubicBezTo>
                  <a:lnTo>
                    <a:pt x="116681" y="100012"/>
                  </a:lnTo>
                  <a:cubicBezTo>
                    <a:pt x="116681" y="90807"/>
                    <a:pt x="124144" y="83344"/>
                    <a:pt x="133350" y="83344"/>
                  </a:cubicBezTo>
                  <a:cubicBezTo>
                    <a:pt x="142556" y="83344"/>
                    <a:pt x="150019" y="90807"/>
                    <a:pt x="150019" y="100012"/>
                  </a:cubicBezTo>
                  <a:lnTo>
                    <a:pt x="150019" y="101566"/>
                  </a:lnTo>
                  <a:cubicBezTo>
                    <a:pt x="150019" y="106602"/>
                    <a:pt x="147934" y="111414"/>
                    <a:pt x="144260" y="114859"/>
                  </a:cubicBezTo>
                  <a:lnTo>
                    <a:pt x="83344" y="171968"/>
                  </a:lnTo>
                  <a:lnTo>
                    <a:pt x="83344" y="216694"/>
                  </a:lnTo>
                  <a:lnTo>
                    <a:pt x="183356" y="216694"/>
                  </a:lnTo>
                  <a:lnTo>
                    <a:pt x="183356" y="183356"/>
                  </a:lnTo>
                  <a:lnTo>
                    <a:pt x="119939" y="183356"/>
                  </a:lnTo>
                  <a:lnTo>
                    <a:pt x="167061" y="139180"/>
                  </a:lnTo>
                  <a:cubicBezTo>
                    <a:pt x="177457" y="129433"/>
                    <a:pt x="183356" y="115817"/>
                    <a:pt x="183356" y="101566"/>
                  </a:cubicBezTo>
                  <a:lnTo>
                    <a:pt x="183356" y="100012"/>
                  </a:lnTo>
                  <a:cubicBezTo>
                    <a:pt x="183356" y="72395"/>
                    <a:pt x="160968" y="50006"/>
                    <a:pt x="133350" y="50006"/>
                  </a:cubicBezTo>
                  <a:close/>
                </a:path>
              </a:pathLst>
            </a:custGeom>
            <a:solidFill>
              <a:srgbClr val="E8612C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747760" y="35280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涂刷参数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368665" y="3810952"/>
              <a:ext cx="20709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辊涂 2遍，覆盖率 3-5 m²/kg/遍</a:t>
              </a:r>
              <a:endPara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368665" y="4039552"/>
              <a:ext cx="9017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间隔 4-6 小时</a:t>
              </a:r>
              <a:endPara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Freeform 70"/>
            <p:cNvSpPr/>
            <p:nvPr/>
          </p:nvSpPr>
          <p:spPr>
            <a:xfrm>
              <a:off x="8382000" y="45148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266700"/>
                  </a:moveTo>
                  <a:cubicBezTo>
                    <a:pt x="206998" y="266700"/>
                    <a:pt x="266700" y="206998"/>
                    <a:pt x="266700" y="133350"/>
                  </a:cubicBezTo>
                  <a:cubicBezTo>
                    <a:pt x="266700" y="59703"/>
                    <a:pt x="206998" y="0"/>
                    <a:pt x="133350" y="0"/>
                  </a:cubicBezTo>
                  <a:cubicBezTo>
                    <a:pt x="59703" y="0"/>
                    <a:pt x="0" y="59703"/>
                    <a:pt x="0" y="133350"/>
                  </a:cubicBezTo>
                  <a:cubicBezTo>
                    <a:pt x="0" y="206998"/>
                    <a:pt x="59703" y="266700"/>
                    <a:pt x="133350" y="266700"/>
                  </a:cubicBezTo>
                  <a:close/>
                  <a:moveTo>
                    <a:pt x="133350" y="50006"/>
                  </a:moveTo>
                  <a:cubicBezTo>
                    <a:pt x="105732" y="50006"/>
                    <a:pt x="83344" y="72395"/>
                    <a:pt x="83344" y="100012"/>
                  </a:cubicBezTo>
                  <a:lnTo>
                    <a:pt x="116681" y="100012"/>
                  </a:lnTo>
                  <a:cubicBezTo>
                    <a:pt x="116681" y="90807"/>
                    <a:pt x="124144" y="83344"/>
                    <a:pt x="133350" y="83344"/>
                  </a:cubicBezTo>
                  <a:cubicBezTo>
                    <a:pt x="142556" y="83344"/>
                    <a:pt x="150019" y="90807"/>
                    <a:pt x="150019" y="100012"/>
                  </a:cubicBezTo>
                  <a:cubicBezTo>
                    <a:pt x="150019" y="109218"/>
                    <a:pt x="142556" y="116681"/>
                    <a:pt x="133350" y="116681"/>
                  </a:cubicBezTo>
                  <a:lnTo>
                    <a:pt x="116681" y="116681"/>
                  </a:lnTo>
                  <a:lnTo>
                    <a:pt x="116681" y="150019"/>
                  </a:lnTo>
                  <a:lnTo>
                    <a:pt x="133350" y="150019"/>
                  </a:lnTo>
                  <a:cubicBezTo>
                    <a:pt x="142556" y="150019"/>
                    <a:pt x="150019" y="157482"/>
                    <a:pt x="150019" y="166688"/>
                  </a:cubicBezTo>
                  <a:cubicBezTo>
                    <a:pt x="150019" y="175894"/>
                    <a:pt x="142556" y="183356"/>
                    <a:pt x="133350" y="183356"/>
                  </a:cubicBezTo>
                  <a:cubicBezTo>
                    <a:pt x="124144" y="183356"/>
                    <a:pt x="116681" y="175894"/>
                    <a:pt x="116681" y="166688"/>
                  </a:cubicBezTo>
                  <a:lnTo>
                    <a:pt x="83344" y="166688"/>
                  </a:lnTo>
                  <a:cubicBezTo>
                    <a:pt x="83344" y="194306"/>
                    <a:pt x="105732" y="216694"/>
                    <a:pt x="133350" y="216694"/>
                  </a:cubicBezTo>
                  <a:cubicBezTo>
                    <a:pt x="160968" y="216694"/>
                    <a:pt x="183356" y="194306"/>
                    <a:pt x="183356" y="166688"/>
                  </a:cubicBezTo>
                  <a:cubicBezTo>
                    <a:pt x="183356" y="153880"/>
                    <a:pt x="178541" y="142197"/>
                    <a:pt x="170623" y="133350"/>
                  </a:cubicBezTo>
                  <a:cubicBezTo>
                    <a:pt x="178541" y="124503"/>
                    <a:pt x="183356" y="112820"/>
                    <a:pt x="183356" y="100012"/>
                  </a:cubicBezTo>
                  <a:cubicBezTo>
                    <a:pt x="183356" y="72395"/>
                    <a:pt x="160968" y="50006"/>
                    <a:pt x="133350" y="50006"/>
                  </a:cubicBezTo>
                  <a:close/>
                </a:path>
              </a:pathLst>
            </a:custGeom>
            <a:solidFill>
              <a:srgbClr val="E8612C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747760" y="45758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注意要点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368665" y="485870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墙角向上翻起 20-30cm</a:t>
              </a:r>
              <a:endPara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368665" y="5087302"/>
              <a:ext cx="10978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5°C以下禁止施工</a:t>
              </a:r>
              <a:endPara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382000" y="5476875"/>
              <a:ext cx="2952750" cy="533400"/>
            </a:xfrm>
            <a:prstGeom prst="roundRect">
              <a:avLst>
                <a:gd name="adj" fmla="val 14286"/>
              </a:avLst>
            </a:prstGeom>
            <a:solidFill>
              <a:srgbClr val="F0F4F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512492" y="5590699"/>
              <a:ext cx="1448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京东搜: </a:t>
              </a:r>
              <a:r>
                <a:rPr lang="zh-CN" sz="975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东方雨虹 HCA121</a:t>
              </a:r>
              <a:endParaRPr lang="zh-CN" sz="975" dirty="0">
                <a:solidFill>
                  <a:srgbClr val="0891B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512492" y="57811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参考: </a:t>
              </a:r>
              <a:r>
                <a:rPr lang="zh-CN" sz="975" dirty="0">
                  <a:solidFill>
                    <a:srgbClr val="0891B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科顺 丙烯酸防水涂料</a:t>
              </a:r>
              <a:endParaRPr lang="zh-CN" sz="975" dirty="0">
                <a:solidFill>
                  <a:srgbClr val="0891B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1329487" y="6530816"/>
            <a:ext cx="3014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 / 10</a:t>
            </a:r>
            <a:endParaRPr lang="zh-CN" sz="825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54" grpId="0"/>
      <p:bldP spid="7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0D4F8B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293370"/>
            <a:ext cx="308533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D4F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预算估算与品牌推荐</a:t>
            </a:r>
            <a:endParaRPr lang="zh-CN" sz="2400" b="1" dirty="0">
              <a:solidFill>
                <a:srgbClr val="0D4F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58165" y="705802"/>
            <a:ext cx="37791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总预算约 5,000-10,000 元（含人工）· 品牌旗舰店正品保障</a:t>
            </a:r>
            <a:endParaRPr lang="zh-CN" sz="105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524500" cy="4191000"/>
          </a:xfrm>
          <a:prstGeom prst="roundRect">
            <a:avLst>
              <a:gd name="adj" fmla="val 2727"/>
            </a:avLst>
          </a:prstGeom>
          <a:solidFill>
            <a:srgbClr val="F0F4F8"/>
          </a:solidFill>
          <a:ln w="9525">
            <a:solidFill>
              <a:srgbClr val="D0D8E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845762" y="1250632"/>
            <a:ext cx="29759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D4F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费用分项估算（100m²墙面）</a:t>
            </a:r>
            <a:endParaRPr lang="zh-CN" sz="1650" b="1" dirty="0">
              <a:solidFill>
                <a:srgbClr val="0D4F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857250" y="1666875"/>
            <a:ext cx="4953000" cy="521494"/>
            <a:chOff x="857250" y="1666875"/>
            <a:chExt cx="4953000" cy="521494"/>
          </a:xfrm>
        </p:grpSpPr>
        <p:sp>
          <p:nvSpPr>
            <p:cNvPr id="8" name="Rectangle 8"/>
            <p:cNvSpPr/>
            <p:nvPr/>
          </p:nvSpPr>
          <p:spPr>
            <a:xfrm>
              <a:off x="857250" y="1666875"/>
              <a:ext cx="495300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4762">
              <a:solidFill>
                <a:srgbClr val="E2E8F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076325" y="1838325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17145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57150" y="228600"/>
                  </a:lnTo>
                  <a:lnTo>
                    <a:pt x="57150" y="171450"/>
                  </a:lnTo>
                  <a:lnTo>
                    <a:pt x="114300" y="171450"/>
                  </a:lnTo>
                  <a:lnTo>
                    <a:pt x="114300" y="228600"/>
                  </a:lnTo>
                  <a:lnTo>
                    <a:pt x="171450" y="228600"/>
                  </a:lnTo>
                  <a:lnTo>
                    <a:pt x="171450" y="0"/>
                  </a:lnTo>
                  <a:close/>
                  <a:moveTo>
                    <a:pt x="42862" y="42862"/>
                  </a:moveTo>
                  <a:lnTo>
                    <a:pt x="71438" y="42862"/>
                  </a:lnTo>
                  <a:lnTo>
                    <a:pt x="71438" y="71438"/>
                  </a:lnTo>
                  <a:lnTo>
                    <a:pt x="42862" y="71438"/>
                  </a:lnTo>
                  <a:lnTo>
                    <a:pt x="42862" y="42862"/>
                  </a:lnTo>
                  <a:close/>
                  <a:moveTo>
                    <a:pt x="71438" y="100012"/>
                  </a:moveTo>
                  <a:lnTo>
                    <a:pt x="42862" y="100012"/>
                  </a:lnTo>
                  <a:lnTo>
                    <a:pt x="42862" y="128588"/>
                  </a:lnTo>
                  <a:lnTo>
                    <a:pt x="71438" y="128588"/>
                  </a:lnTo>
                  <a:lnTo>
                    <a:pt x="71438" y="100012"/>
                  </a:lnTo>
                  <a:close/>
                  <a:moveTo>
                    <a:pt x="100012" y="42862"/>
                  </a:moveTo>
                  <a:lnTo>
                    <a:pt x="128588" y="42862"/>
                  </a:lnTo>
                  <a:lnTo>
                    <a:pt x="128588" y="71438"/>
                  </a:lnTo>
                  <a:lnTo>
                    <a:pt x="100012" y="71438"/>
                  </a:lnTo>
                  <a:lnTo>
                    <a:pt x="100012" y="42862"/>
                  </a:lnTo>
                  <a:close/>
                  <a:moveTo>
                    <a:pt x="128588" y="100012"/>
                  </a:moveTo>
                  <a:lnTo>
                    <a:pt x="100012" y="100012"/>
                  </a:lnTo>
                  <a:lnTo>
                    <a:pt x="100012" y="128588"/>
                  </a:lnTo>
                  <a:lnTo>
                    <a:pt x="128588" y="128588"/>
                  </a:lnTo>
                  <a:lnTo>
                    <a:pt x="128588" y="100012"/>
                  </a:lnTo>
                  <a:close/>
                </a:path>
              </a:pathLst>
            </a:custGeom>
            <a:solidFill>
              <a:srgbClr val="0D4F8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94460" y="17754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外墙防水材料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97799" y="1759268"/>
              <a:ext cx="12818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E8612C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800 - 1,500 元</a:t>
              </a:r>
              <a:endParaRPr lang="zh-CN" sz="1350" b="1" dirty="0">
                <a:solidFill>
                  <a:srgbClr val="E8612C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97318" y="1990249"/>
              <a:ext cx="18644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丙烯酸弹性防水涂料 + 辅助材料</a:t>
              </a:r>
              <a:endPara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" y="2286000"/>
            <a:ext cx="4953000" cy="521494"/>
            <a:chOff x="857250" y="2286000"/>
            <a:chExt cx="4953000" cy="521494"/>
          </a:xfrm>
        </p:grpSpPr>
        <p:sp>
          <p:nvSpPr>
            <p:cNvPr id="14" name="Rectangle 14"/>
            <p:cNvSpPr/>
            <p:nvPr/>
          </p:nvSpPr>
          <p:spPr>
            <a:xfrm>
              <a:off x="857250" y="2286000"/>
              <a:ext cx="495300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4762">
              <a:solidFill>
                <a:srgbClr val="E2E8F0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047750" y="2471738"/>
              <a:ext cx="228600" cy="200024"/>
              <a:chOff x="1047750" y="2471738"/>
              <a:chExt cx="228600" cy="20002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047750" y="2471738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57150" y="0"/>
                    </a:moveTo>
                    <a:lnTo>
                      <a:pt x="171450" y="0"/>
                    </a:lnTo>
                    <a:lnTo>
                      <a:pt x="171450" y="57150"/>
                    </a:lnTo>
                    <a:lnTo>
                      <a:pt x="192881" y="57150"/>
                    </a:lnTo>
                    <a:lnTo>
                      <a:pt x="228600" y="92869"/>
                    </a:lnTo>
                    <a:lnTo>
                      <a:pt x="228600" y="114300"/>
                    </a:lnTo>
                    <a:lnTo>
                      <a:pt x="0" y="114300"/>
                    </a:lnTo>
                    <a:lnTo>
                      <a:pt x="0" y="92869"/>
                    </a:lnTo>
                    <a:lnTo>
                      <a:pt x="35719" y="57150"/>
                    </a:lnTo>
                    <a:lnTo>
                      <a:pt x="57150" y="57150"/>
                    </a:lnTo>
                    <a:lnTo>
                      <a:pt x="57150" y="0"/>
                    </a:lnTo>
                    <a:close/>
                    <a:moveTo>
                      <a:pt x="142875" y="28575"/>
                    </a:moveTo>
                    <a:lnTo>
                      <a:pt x="142875" y="57150"/>
                    </a:lnTo>
                    <a:lnTo>
                      <a:pt x="85725" y="57150"/>
                    </a:lnTo>
                    <a:lnTo>
                      <a:pt x="85725" y="28575"/>
                    </a:lnTo>
                    <a:lnTo>
                      <a:pt x="142875" y="28575"/>
                    </a:lnTo>
                    <a:close/>
                  </a:path>
                </a:pathLst>
              </a:custGeom>
              <a:solidFill>
                <a:srgbClr val="0891B2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47750" y="2614612"/>
                <a:ext cx="228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7150">
                    <a:moveTo>
                      <a:pt x="0" y="0"/>
                    </a:moveTo>
                    <a:lnTo>
                      <a:pt x="0" y="57150"/>
                    </a:lnTo>
                    <a:lnTo>
                      <a:pt x="228600" y="57150"/>
                    </a:lnTo>
                    <a:lnTo>
                      <a:pt x="228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891B2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394460" y="2394585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内墙基层处理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58469" y="2378392"/>
              <a:ext cx="11211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E8612C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500 - 800 元</a:t>
              </a:r>
              <a:endParaRPr lang="zh-CN" sz="1350" b="1" dirty="0">
                <a:solidFill>
                  <a:srgbClr val="E8612C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97318" y="2609374"/>
              <a:ext cx="13574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84消毒液 + 防水型墙固</a:t>
              </a:r>
              <a:endPara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57250" y="2905125"/>
            <a:ext cx="4953000" cy="521494"/>
            <a:chOff x="857250" y="2905125"/>
            <a:chExt cx="4953000" cy="521494"/>
          </a:xfrm>
        </p:grpSpPr>
        <p:sp>
          <p:nvSpPr>
            <p:cNvPr id="22" name="Rectangle 22"/>
            <p:cNvSpPr/>
            <p:nvPr/>
          </p:nvSpPr>
          <p:spPr>
            <a:xfrm>
              <a:off x="857250" y="2905125"/>
              <a:ext cx="495300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4762">
              <a:solidFill>
                <a:srgbClr val="E2E8F0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062038" y="3076575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100012" y="228600"/>
                  </a:moveTo>
                  <a:lnTo>
                    <a:pt x="47864" y="191351"/>
                  </a:lnTo>
                  <a:cubicBezTo>
                    <a:pt x="17827" y="169896"/>
                    <a:pt x="0" y="135255"/>
                    <a:pt x="0" y="98342"/>
                  </a:cubicBezTo>
                  <a:lnTo>
                    <a:pt x="0" y="42862"/>
                  </a:lnTo>
                  <a:lnTo>
                    <a:pt x="100012" y="0"/>
                  </a:lnTo>
                  <a:lnTo>
                    <a:pt x="200025" y="42862"/>
                  </a:lnTo>
                  <a:lnTo>
                    <a:pt x="200025" y="98342"/>
                  </a:lnTo>
                  <a:cubicBezTo>
                    <a:pt x="200025" y="135255"/>
                    <a:pt x="182198" y="169896"/>
                    <a:pt x="152160" y="191351"/>
                  </a:cubicBezTo>
                  <a:lnTo>
                    <a:pt x="100012" y="228600"/>
                  </a:lnTo>
                  <a:close/>
                  <a:moveTo>
                    <a:pt x="160121" y="81540"/>
                  </a:moveTo>
                  <a:lnTo>
                    <a:pt x="139916" y="61335"/>
                  </a:lnTo>
                  <a:lnTo>
                    <a:pt x="85725" y="115526"/>
                  </a:lnTo>
                  <a:lnTo>
                    <a:pt x="60109" y="89910"/>
                  </a:lnTo>
                  <a:lnTo>
                    <a:pt x="39903" y="110115"/>
                  </a:lnTo>
                  <a:lnTo>
                    <a:pt x="85725" y="155937"/>
                  </a:lnTo>
                  <a:lnTo>
                    <a:pt x="160121" y="81540"/>
                  </a:lnTo>
                  <a:close/>
                </a:path>
              </a:pathLst>
            </a:custGeom>
            <a:solidFill>
              <a:srgbClr val="0D4F8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394460" y="30137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防水涂料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97799" y="2997518"/>
              <a:ext cx="12818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E8612C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600 - 1,000 元</a:t>
              </a:r>
              <a:endParaRPr lang="zh-CN" sz="1350" b="1" dirty="0">
                <a:solidFill>
                  <a:srgbClr val="E8612C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97318" y="32284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渗透结晶防水涂料 35-50kg</a:t>
              </a:r>
              <a:endPara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57250" y="3524250"/>
            <a:ext cx="4953000" cy="521494"/>
            <a:chOff x="857250" y="3524250"/>
            <a:chExt cx="4953000" cy="521494"/>
          </a:xfrm>
        </p:grpSpPr>
        <p:sp>
          <p:nvSpPr>
            <p:cNvPr id="28" name="Rectangle 28"/>
            <p:cNvSpPr/>
            <p:nvPr/>
          </p:nvSpPr>
          <p:spPr>
            <a:xfrm>
              <a:off x="857250" y="3524250"/>
              <a:ext cx="495300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4762">
              <a:solidFill>
                <a:srgbClr val="E2E8F0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062038" y="3695700"/>
              <a:ext cx="214312" cy="228600"/>
            </a:xfrm>
            <a:custGeom>
              <a:avLst/>
              <a:gdLst/>
              <a:ahLst/>
              <a:cxnLst/>
              <a:rect l="l" t="t" r="r" b="b"/>
              <a:pathLst>
                <a:path w="214312" h="228600">
                  <a:moveTo>
                    <a:pt x="0" y="0"/>
                  </a:moveTo>
                  <a:lnTo>
                    <a:pt x="171450" y="0"/>
                  </a:lnTo>
                  <a:lnTo>
                    <a:pt x="171450" y="28575"/>
                  </a:lnTo>
                  <a:lnTo>
                    <a:pt x="214312" y="28575"/>
                  </a:lnTo>
                  <a:lnTo>
                    <a:pt x="214312" y="111563"/>
                  </a:lnTo>
                  <a:lnTo>
                    <a:pt x="114300" y="132994"/>
                  </a:lnTo>
                  <a:lnTo>
                    <a:pt x="114300" y="142875"/>
                  </a:lnTo>
                  <a:lnTo>
                    <a:pt x="128588" y="142875"/>
                  </a:lnTo>
                  <a:lnTo>
                    <a:pt x="128588" y="228600"/>
                  </a:lnTo>
                  <a:lnTo>
                    <a:pt x="71438" y="228600"/>
                  </a:lnTo>
                  <a:lnTo>
                    <a:pt x="71438" y="142875"/>
                  </a:lnTo>
                  <a:lnTo>
                    <a:pt x="85725" y="142875"/>
                  </a:lnTo>
                  <a:lnTo>
                    <a:pt x="85725" y="109893"/>
                  </a:lnTo>
                  <a:lnTo>
                    <a:pt x="185738" y="88462"/>
                  </a:lnTo>
                  <a:lnTo>
                    <a:pt x="185738" y="57150"/>
                  </a:lnTo>
                  <a:lnTo>
                    <a:pt x="171450" y="57150"/>
                  </a:lnTo>
                  <a:lnTo>
                    <a:pt x="171450" y="71438"/>
                  </a:lnTo>
                  <a:lnTo>
                    <a:pt x="0" y="71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91B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94460" y="3632835"/>
              <a:ext cx="8957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腻子 + 漆面</a:t>
              </a:r>
              <a:endParaRPr lang="zh-CN" sz="1200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97799" y="3616642"/>
              <a:ext cx="12818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E8612C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600 - 1,200 元</a:t>
              </a:r>
              <a:endParaRPr lang="zh-CN" sz="1350" b="1" dirty="0">
                <a:solidFill>
                  <a:srgbClr val="E8612C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97318" y="3847624"/>
              <a:ext cx="18254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E7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N型腻子 + 抗碱底漆 + 防霉面漆</a:t>
              </a:r>
              <a:endPara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4" name="Rectangle 34"/>
          <p:cNvSpPr/>
          <p:nvPr/>
        </p:nvSpPr>
        <p:spPr>
          <a:xfrm>
            <a:off x="857250" y="4191000"/>
            <a:ext cx="4953000" cy="533400"/>
          </a:xfrm>
          <a:prstGeom prst="roundRect">
            <a:avLst>
              <a:gd name="adj" fmla="val 14286"/>
            </a:avLst>
          </a:prstGeom>
          <a:solidFill>
            <a:srgbClr val="0D4F8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125855" y="436911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材料费总计</a:t>
            </a:r>
            <a:endParaRPr lang="zh-CN" sz="13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2604528" y="4336732"/>
            <a:ext cx="217892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650" b="1" dirty="0">
                <a:solidFill>
                  <a:srgbClr val="FFFFFF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rPr>
              <a:t>约 2,500 - 4,000 元</a:t>
            </a:r>
            <a:endParaRPr lang="zh-CN" sz="1650" b="1" dirty="0">
              <a:solidFill>
                <a:srgbClr val="FFFFFF"/>
              </a:solidFill>
              <a:latin typeface="Georgia" panose="02040502050405020303"/>
              <a:ea typeface="微软雅黑" panose="020B0503020204020204" charset="-122"/>
              <a:cs typeface="Georgia" panose="02040502050405020303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573697" y="4887278"/>
            <a:ext cx="35201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人工费约材料费的 1-1.5 倍 → 总预算约 5,000-10,000 元</a:t>
            </a:r>
            <a:endParaRPr lang="zh-CN" sz="105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Rectangle 38"/>
          <p:cNvSpPr/>
          <p:nvPr/>
        </p:nvSpPr>
        <p:spPr>
          <a:xfrm>
            <a:off x="6334125" y="1095375"/>
            <a:ext cx="5286375" cy="4191000"/>
          </a:xfrm>
          <a:prstGeom prst="roundRect">
            <a:avLst>
              <a:gd name="adj" fmla="val 2727"/>
            </a:avLst>
          </a:prstGeom>
          <a:solidFill>
            <a:srgbClr val="F0F4F8"/>
          </a:solidFill>
          <a:ln w="9525">
            <a:solidFill>
              <a:srgbClr val="D0D8E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8489537" y="1250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D4F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品牌推荐</a:t>
            </a:r>
            <a:endParaRPr lang="zh-CN" sz="1650" b="1" dirty="0">
              <a:solidFill>
                <a:srgbClr val="0D4F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0" name="Rectangle 40"/>
          <p:cNvSpPr/>
          <p:nvPr/>
        </p:nvSpPr>
        <p:spPr>
          <a:xfrm>
            <a:off x="6619875" y="1666875"/>
            <a:ext cx="4714875" cy="381000"/>
          </a:xfrm>
          <a:prstGeom prst="rect">
            <a:avLst/>
          </a:prstGeom>
          <a:solidFill>
            <a:srgbClr val="0D4F8B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797040" y="180117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品类</a:t>
            </a:r>
            <a:endParaRPr lang="zh-CN" sz="10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7940040" y="1801178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首选品牌</a:t>
            </a:r>
            <a:endParaRPr lang="zh-CN" sz="10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9892665" y="180117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备选</a:t>
            </a:r>
            <a:endParaRPr lang="zh-CN" sz="10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Line 44"/>
          <p:cNvSpPr/>
          <p:nvPr/>
        </p:nvSpPr>
        <p:spPr>
          <a:xfrm>
            <a:off x="7810500" y="1666875"/>
            <a:ext cx="9525" cy="1905000"/>
          </a:xfrm>
          <a:custGeom>
            <a:avLst/>
            <a:gdLst/>
            <a:ahLst/>
            <a:cxnLst/>
            <a:rect l="l" t="t" r="r" b="b"/>
            <a:pathLst>
              <a:path w="9525" h="1905000">
                <a:moveTo>
                  <a:pt x="0" y="0"/>
                </a:moveTo>
                <a:lnTo>
                  <a:pt x="0" y="1905000"/>
                </a:lnTo>
              </a:path>
            </a:pathLst>
          </a:custGeom>
          <a:noFill/>
          <a:ln w="4762">
            <a:solidFill>
              <a:srgbClr val="D0D8E0"/>
            </a:solidFill>
          </a:ln>
        </p:spPr>
      </p:sp>
      <p:sp>
        <p:nvSpPr>
          <p:cNvPr id="45" name="Line 45"/>
          <p:cNvSpPr/>
          <p:nvPr/>
        </p:nvSpPr>
        <p:spPr>
          <a:xfrm>
            <a:off x="9715500" y="1666875"/>
            <a:ext cx="9525" cy="1905000"/>
          </a:xfrm>
          <a:custGeom>
            <a:avLst/>
            <a:gdLst/>
            <a:ahLst/>
            <a:cxnLst/>
            <a:rect l="l" t="t" r="r" b="b"/>
            <a:pathLst>
              <a:path w="9525" h="1905000">
                <a:moveTo>
                  <a:pt x="0" y="0"/>
                </a:moveTo>
                <a:lnTo>
                  <a:pt x="0" y="1905000"/>
                </a:lnTo>
              </a:path>
            </a:pathLst>
          </a:custGeom>
          <a:noFill/>
          <a:ln w="4762">
            <a:solidFill>
              <a:srgbClr val="D0D8E0"/>
            </a:solidFill>
          </a:ln>
        </p:spPr>
      </p:sp>
      <p:sp>
        <p:nvSpPr>
          <p:cNvPr id="46" name="Line 46"/>
          <p:cNvSpPr/>
          <p:nvPr/>
        </p:nvSpPr>
        <p:spPr>
          <a:xfrm>
            <a:off x="6619875" y="2047875"/>
            <a:ext cx="4714875" cy="9525"/>
          </a:xfrm>
          <a:custGeom>
            <a:avLst/>
            <a:gdLst/>
            <a:ahLst/>
            <a:cxnLst/>
            <a:rect l="l" t="t" r="r" b="b"/>
            <a:pathLst>
              <a:path w="4714875" h="9525">
                <a:moveTo>
                  <a:pt x="0" y="0"/>
                </a:moveTo>
                <a:lnTo>
                  <a:pt x="4714875" y="0"/>
                </a:lnTo>
              </a:path>
            </a:pathLst>
          </a:custGeom>
          <a:noFill/>
          <a:ln w="4762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796088" y="21645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防水涂料</a:t>
            </a:r>
            <a:endParaRPr lang="zh-CN" sz="1125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7939088" y="2164556"/>
            <a:ext cx="12737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东方雨虹 / 德高K11</a:t>
            </a:r>
            <a:endParaRPr lang="zh-CN" sz="1125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9892665" y="2172652"/>
            <a:ext cx="7477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科顺 / 青龙</a:t>
            </a:r>
            <a:endParaRPr lang="zh-CN" sz="105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Line 50"/>
          <p:cNvSpPr/>
          <p:nvPr/>
        </p:nvSpPr>
        <p:spPr>
          <a:xfrm>
            <a:off x="6619875" y="2428875"/>
            <a:ext cx="4714875" cy="9525"/>
          </a:xfrm>
          <a:custGeom>
            <a:avLst/>
            <a:gdLst/>
            <a:ahLst/>
            <a:cxnLst/>
            <a:rect l="l" t="t" r="r" b="b"/>
            <a:pathLst>
              <a:path w="4714875" h="9525">
                <a:moveTo>
                  <a:pt x="0" y="0"/>
                </a:moveTo>
                <a:lnTo>
                  <a:pt x="4714875" y="0"/>
                </a:lnTo>
              </a:path>
            </a:pathLst>
          </a:custGeom>
          <a:noFill/>
          <a:ln w="4762">
            <a:solidFill>
              <a:srgbClr val="E2E8F0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6796088" y="25455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耐水腻子</a:t>
            </a:r>
            <a:endParaRPr lang="zh-CN" sz="1125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7939088" y="2545556"/>
            <a:ext cx="8011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美巢 / 德高</a:t>
            </a:r>
            <a:endParaRPr lang="zh-CN" sz="1125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9892665" y="2553652"/>
            <a:ext cx="3067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立邦</a:t>
            </a:r>
            <a:endParaRPr lang="zh-CN" sz="105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Line 54"/>
          <p:cNvSpPr/>
          <p:nvPr/>
        </p:nvSpPr>
        <p:spPr>
          <a:xfrm>
            <a:off x="6619875" y="2809875"/>
            <a:ext cx="4714875" cy="9525"/>
          </a:xfrm>
          <a:custGeom>
            <a:avLst/>
            <a:gdLst/>
            <a:ahLst/>
            <a:cxnLst/>
            <a:rect l="l" t="t" r="r" b="b"/>
            <a:pathLst>
              <a:path w="4714875" h="9525">
                <a:moveTo>
                  <a:pt x="0" y="0"/>
                </a:moveTo>
                <a:lnTo>
                  <a:pt x="4714875" y="0"/>
                </a:lnTo>
              </a:path>
            </a:pathLst>
          </a:custGeom>
          <a:noFill/>
          <a:ln w="4762">
            <a:solidFill>
              <a:srgbClr val="E2E8F0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6796088" y="2926556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乳胶漆</a:t>
            </a:r>
            <a:endParaRPr lang="zh-CN" sz="1125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7939088" y="2926556"/>
            <a:ext cx="9511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多乐士 / 立邦</a:t>
            </a:r>
            <a:endParaRPr lang="zh-CN" sz="1125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9892665" y="2934652"/>
            <a:ext cx="4467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三棵树</a:t>
            </a:r>
            <a:endParaRPr lang="zh-CN" sz="105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8" name="Line 58"/>
          <p:cNvSpPr/>
          <p:nvPr/>
        </p:nvSpPr>
        <p:spPr>
          <a:xfrm>
            <a:off x="6619875" y="3190875"/>
            <a:ext cx="4714875" cy="9525"/>
          </a:xfrm>
          <a:custGeom>
            <a:avLst/>
            <a:gdLst/>
            <a:ahLst/>
            <a:cxnLst/>
            <a:rect l="l" t="t" r="r" b="b"/>
            <a:pathLst>
              <a:path w="4714875" h="9525">
                <a:moveTo>
                  <a:pt x="0" y="0"/>
                </a:moveTo>
                <a:lnTo>
                  <a:pt x="4714875" y="0"/>
                </a:lnTo>
              </a:path>
            </a:pathLst>
          </a:custGeom>
          <a:noFill/>
          <a:ln w="4762">
            <a:solidFill>
              <a:srgbClr val="E2E8F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6796088" y="3307556"/>
            <a:ext cx="9028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墙固/界面剂</a:t>
            </a:r>
            <a:endParaRPr lang="zh-CN" sz="1125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7939088" y="3307556"/>
            <a:ext cx="11012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东方雨虹 / 德高</a:t>
            </a:r>
            <a:endParaRPr lang="zh-CN" sz="1125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9892665" y="3315652"/>
            <a:ext cx="3067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立邦</a:t>
            </a:r>
            <a:endParaRPr lang="zh-CN" sz="105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2" name="Rectangle 62"/>
          <p:cNvSpPr/>
          <p:nvPr/>
        </p:nvSpPr>
        <p:spPr>
          <a:xfrm>
            <a:off x="6619875" y="3810000"/>
            <a:ext cx="4714875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8612C"/>
            </a:solidFill>
          </a:ln>
        </p:spPr>
      </p:sp>
      <p:sp>
        <p:nvSpPr>
          <p:cNvPr id="63" name="Freeform 63"/>
          <p:cNvSpPr/>
          <p:nvPr/>
        </p:nvSpPr>
        <p:spPr>
          <a:xfrm>
            <a:off x="6891338" y="3957955"/>
            <a:ext cx="200025" cy="266700"/>
          </a:xfrm>
          <a:custGeom>
            <a:avLst/>
            <a:gdLst/>
            <a:ahLst/>
            <a:cxnLst/>
            <a:rect l="l" t="t" r="r" b="b"/>
            <a:pathLst>
              <a:path w="200025" h="266700">
                <a:moveTo>
                  <a:pt x="50006" y="191691"/>
                </a:moveTo>
                <a:lnTo>
                  <a:pt x="50006" y="241697"/>
                </a:lnTo>
                <a:lnTo>
                  <a:pt x="75009" y="266700"/>
                </a:lnTo>
                <a:lnTo>
                  <a:pt x="125016" y="266700"/>
                </a:lnTo>
                <a:lnTo>
                  <a:pt x="150019" y="241697"/>
                </a:lnTo>
                <a:lnTo>
                  <a:pt x="150019" y="191691"/>
                </a:lnTo>
                <a:lnTo>
                  <a:pt x="170681" y="171028"/>
                </a:lnTo>
                <a:cubicBezTo>
                  <a:pt x="189470" y="152240"/>
                  <a:pt x="200025" y="126706"/>
                  <a:pt x="200025" y="100135"/>
                </a:cubicBezTo>
                <a:cubicBezTo>
                  <a:pt x="200025" y="44900"/>
                  <a:pt x="155248" y="0"/>
                  <a:pt x="100012" y="0"/>
                </a:cubicBezTo>
                <a:cubicBezTo>
                  <a:pt x="44777" y="0"/>
                  <a:pt x="0" y="44900"/>
                  <a:pt x="0" y="100135"/>
                </a:cubicBezTo>
                <a:cubicBezTo>
                  <a:pt x="0" y="126706"/>
                  <a:pt x="10555" y="152240"/>
                  <a:pt x="29344" y="171028"/>
                </a:cubicBezTo>
                <a:lnTo>
                  <a:pt x="50006" y="191691"/>
                </a:lnTo>
                <a:close/>
                <a:moveTo>
                  <a:pt x="83344" y="164587"/>
                </a:moveTo>
                <a:lnTo>
                  <a:pt x="83344" y="100012"/>
                </a:lnTo>
                <a:lnTo>
                  <a:pt x="116681" y="100012"/>
                </a:lnTo>
                <a:lnTo>
                  <a:pt x="116681" y="164587"/>
                </a:lnTo>
                <a:cubicBezTo>
                  <a:pt x="145438" y="157185"/>
                  <a:pt x="166688" y="131080"/>
                  <a:pt x="166688" y="100012"/>
                </a:cubicBezTo>
                <a:cubicBezTo>
                  <a:pt x="166688" y="63189"/>
                  <a:pt x="136835" y="33338"/>
                  <a:pt x="100012" y="33338"/>
                </a:cubicBezTo>
                <a:cubicBezTo>
                  <a:pt x="63189" y="33338"/>
                  <a:pt x="33338" y="63189"/>
                  <a:pt x="33338" y="100012"/>
                </a:cubicBezTo>
                <a:cubicBezTo>
                  <a:pt x="33338" y="131080"/>
                  <a:pt x="54586" y="157185"/>
                  <a:pt x="83344" y="164587"/>
                </a:cubicBezTo>
                <a:close/>
              </a:path>
            </a:pathLst>
          </a:custGeom>
          <a:solidFill>
            <a:srgbClr val="E8612C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7203758" y="3958114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采购提示</a:t>
            </a:r>
            <a:endParaRPr lang="zh-CN" sz="1275" b="1" dirty="0">
              <a:solidFill>
                <a:srgbClr val="E8612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6844665" y="4268152"/>
            <a:ext cx="25259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· 建议自行采购，避免装修公司低端用料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6844665" y="4496752"/>
            <a:ext cx="27430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· 京东/天猫品牌旗舰店购买，认准防伪标识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6844665" y="4725352"/>
            <a:ext cx="23649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· 腻子保质期仅12个月，注意生产日期</a:t>
            </a:r>
            <a:endParaRPr lang="zh-CN" sz="1050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559118" y="5514499"/>
            <a:ext cx="59535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* 以上价格为2025年市场参考价，实际以品牌旗舰店当日报价为准。大促期间（618/双11）入手更划算。</a:t>
            </a:r>
            <a:endParaRPr lang="zh-CN" sz="975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11329487" y="6530816"/>
            <a:ext cx="3014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 / 10</a:t>
            </a:r>
            <a:endParaRPr lang="zh-CN" sz="825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/>
      <p:bldP spid="27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0D4F8B"/>
              </a:gs>
              <a:gs pos="100000">
                <a:srgbClr val="0891B2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293370"/>
            <a:ext cx="38078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D4F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辅助配套措施 + 避坑清单</a:t>
            </a:r>
            <a:endParaRPr lang="zh-CN" sz="2400" b="1" dirty="0">
              <a:solidFill>
                <a:srgbClr val="0D4F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58165" y="705802"/>
            <a:ext cx="39681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防水工程是基础，日常习惯是关键 — 双管齐下才能真正告别返潮</a:t>
            </a:r>
            <a:endParaRPr lang="zh-CN" sz="105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618196" y="1028700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D4F8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日常辅助措施</a:t>
            </a:r>
            <a:endParaRPr lang="zh-CN" sz="1500" b="1" dirty="0">
              <a:solidFill>
                <a:srgbClr val="0D4F8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Line 7"/>
          <p:cNvSpPr/>
          <p:nvPr/>
        </p:nvSpPr>
        <p:spPr>
          <a:xfrm>
            <a:off x="3743325" y="13144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D0D8E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2505075" y="1476375"/>
            <a:ext cx="20955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3409950" y="1762125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19062" y="0"/>
                </a:moveTo>
                <a:lnTo>
                  <a:pt x="22503" y="154496"/>
                </a:lnTo>
                <a:cubicBezTo>
                  <a:pt x="7797" y="178024"/>
                  <a:pt x="0" y="205212"/>
                  <a:pt x="0" y="232958"/>
                </a:cubicBezTo>
                <a:lnTo>
                  <a:pt x="0" y="238125"/>
                </a:lnTo>
                <a:cubicBezTo>
                  <a:pt x="0" y="317032"/>
                  <a:pt x="63967" y="381000"/>
                  <a:pt x="142875" y="381000"/>
                </a:cubicBezTo>
                <a:cubicBezTo>
                  <a:pt x="221782" y="381000"/>
                  <a:pt x="285750" y="317032"/>
                  <a:pt x="285750" y="238125"/>
                </a:cubicBezTo>
                <a:lnTo>
                  <a:pt x="285750" y="232958"/>
                </a:lnTo>
                <a:cubicBezTo>
                  <a:pt x="285750" y="205212"/>
                  <a:pt x="277954" y="178024"/>
                  <a:pt x="263247" y="154496"/>
                </a:cubicBezTo>
                <a:lnTo>
                  <a:pt x="166688" y="0"/>
                </a:lnTo>
                <a:lnTo>
                  <a:pt x="119062" y="0"/>
                </a:lnTo>
                <a:close/>
                <a:moveTo>
                  <a:pt x="190500" y="238125"/>
                </a:moveTo>
                <a:cubicBezTo>
                  <a:pt x="190500" y="264428"/>
                  <a:pt x="169178" y="285750"/>
                  <a:pt x="142875" y="285750"/>
                </a:cubicBezTo>
                <a:lnTo>
                  <a:pt x="142875" y="333375"/>
                </a:lnTo>
                <a:cubicBezTo>
                  <a:pt x="195479" y="333375"/>
                  <a:pt x="238125" y="290729"/>
                  <a:pt x="238125" y="238125"/>
                </a:cubicBezTo>
                <a:lnTo>
                  <a:pt x="190500" y="238125"/>
                </a:lnTo>
                <a:close/>
              </a:path>
            </a:pathLst>
          </a:custGeom>
          <a:solidFill>
            <a:srgbClr val="0891B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268849" y="2224564"/>
            <a:ext cx="56795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除湿机</a:t>
            </a:r>
            <a:endParaRPr lang="zh-CN" sz="1275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013877" y="2504599"/>
            <a:ext cx="10778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湿度 &gt; 65% 时开启</a:t>
            </a:r>
            <a:endParaRPr lang="zh-CN" sz="975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150394" y="271414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南方一楼必备</a:t>
            </a:r>
            <a:endParaRPr lang="zh-CN" sz="975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085386" y="292369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几百元解决问题</a:t>
            </a:r>
            <a:endParaRPr lang="zh-CN" sz="975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4886325" y="1476375"/>
            <a:ext cx="20955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5767387" y="1762125"/>
            <a:ext cx="333375" cy="357188"/>
          </a:xfrm>
          <a:custGeom>
            <a:avLst/>
            <a:gdLst/>
            <a:ahLst/>
            <a:cxnLst/>
            <a:rect l="l" t="t" r="r" b="b"/>
            <a:pathLst>
              <a:path w="333375" h="357188">
                <a:moveTo>
                  <a:pt x="0" y="142875"/>
                </a:moveTo>
                <a:lnTo>
                  <a:pt x="0" y="357188"/>
                </a:lnTo>
                <a:lnTo>
                  <a:pt x="119062" y="357188"/>
                </a:lnTo>
                <a:lnTo>
                  <a:pt x="119062" y="261938"/>
                </a:lnTo>
                <a:cubicBezTo>
                  <a:pt x="119062" y="235635"/>
                  <a:pt x="140385" y="214312"/>
                  <a:pt x="166688" y="214312"/>
                </a:cubicBezTo>
                <a:cubicBezTo>
                  <a:pt x="192990" y="214312"/>
                  <a:pt x="214312" y="235635"/>
                  <a:pt x="214312" y="261938"/>
                </a:cubicBezTo>
                <a:lnTo>
                  <a:pt x="214312" y="357188"/>
                </a:lnTo>
                <a:lnTo>
                  <a:pt x="333375" y="357188"/>
                </a:lnTo>
                <a:lnTo>
                  <a:pt x="333375" y="142875"/>
                </a:lnTo>
                <a:lnTo>
                  <a:pt x="166688" y="0"/>
                </a:lnTo>
                <a:lnTo>
                  <a:pt x="0" y="142875"/>
                </a:lnTo>
                <a:close/>
              </a:path>
            </a:pathLst>
          </a:custGeom>
          <a:solidFill>
            <a:srgbClr val="0D4F8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560838" y="2224564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正确通风</a:t>
            </a:r>
            <a:endParaRPr lang="zh-CN" sz="1275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466636" y="250459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晴天中午大通风</a:t>
            </a:r>
            <a:endParaRPr lang="zh-CN" sz="975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443883" y="2714149"/>
            <a:ext cx="980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阴雨天紧闭门窗</a:t>
            </a:r>
            <a:endParaRPr lang="zh-CN" sz="975" b="1" dirty="0">
              <a:solidFill>
                <a:srgbClr val="E8612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466636" y="292369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很多人做反了！</a:t>
            </a:r>
            <a:endParaRPr lang="zh-CN" sz="975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Rectangle 20"/>
          <p:cNvSpPr/>
          <p:nvPr/>
        </p:nvSpPr>
        <p:spPr>
          <a:xfrm>
            <a:off x="7267575" y="1476375"/>
            <a:ext cx="20955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0D8E0"/>
            </a:solidFill>
          </a:ln>
        </p:spPr>
      </p:sp>
      <p:grpSp>
        <p:nvGrpSpPr>
          <p:cNvPr id="24" name="Group 24"/>
          <p:cNvGrpSpPr/>
          <p:nvPr/>
        </p:nvGrpSpPr>
        <p:grpSpPr>
          <a:xfrm>
            <a:off x="8148637" y="1762125"/>
            <a:ext cx="333375" cy="380999"/>
            <a:chOff x="6215062" y="1762125"/>
            <a:chExt cx="333375" cy="380999"/>
          </a:xfrm>
        </p:grpSpPr>
        <p:sp>
          <p:nvSpPr>
            <p:cNvPr id="21" name="Freeform 21"/>
            <p:cNvSpPr/>
            <p:nvPr/>
          </p:nvSpPr>
          <p:spPr>
            <a:xfrm>
              <a:off x="6215062" y="1762125"/>
              <a:ext cx="333375" cy="190500"/>
            </a:xfrm>
            <a:custGeom>
              <a:avLst/>
              <a:gdLst/>
              <a:ahLst/>
              <a:cxnLst/>
              <a:rect l="l" t="t" r="r" b="b"/>
              <a:pathLst>
                <a:path w="333375" h="190500">
                  <a:moveTo>
                    <a:pt x="0" y="119062"/>
                  </a:moveTo>
                  <a:lnTo>
                    <a:pt x="0" y="71438"/>
                  </a:lnTo>
                  <a:lnTo>
                    <a:pt x="166688" y="0"/>
                  </a:lnTo>
                  <a:lnTo>
                    <a:pt x="333375" y="71438"/>
                  </a:lnTo>
                  <a:lnTo>
                    <a:pt x="333375" y="119062"/>
                  </a:lnTo>
                  <a:lnTo>
                    <a:pt x="166688" y="190500"/>
                  </a:lnTo>
                  <a:lnTo>
                    <a:pt x="0" y="119062"/>
                  </a:lnTo>
                  <a:close/>
                </a:path>
              </a:pathLst>
            </a:custGeom>
            <a:solidFill>
              <a:srgbClr val="0D8C5E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6215062" y="2024062"/>
              <a:ext cx="333375" cy="119062"/>
            </a:xfrm>
            <a:custGeom>
              <a:avLst/>
              <a:gdLst/>
              <a:ahLst/>
              <a:cxnLst/>
              <a:rect l="l" t="t" r="r" b="b"/>
              <a:pathLst>
                <a:path w="333375" h="119062">
                  <a:moveTo>
                    <a:pt x="166688" y="119062"/>
                  </a:moveTo>
                  <a:lnTo>
                    <a:pt x="0" y="47625"/>
                  </a:lnTo>
                  <a:lnTo>
                    <a:pt x="0" y="0"/>
                  </a:lnTo>
                  <a:lnTo>
                    <a:pt x="166688" y="71438"/>
                  </a:lnTo>
                  <a:lnTo>
                    <a:pt x="333375" y="0"/>
                  </a:lnTo>
                  <a:lnTo>
                    <a:pt x="333375" y="47625"/>
                  </a:lnTo>
                  <a:lnTo>
                    <a:pt x="166688" y="119062"/>
                  </a:lnTo>
                  <a:close/>
                </a:path>
              </a:pathLst>
            </a:custGeom>
            <a:solidFill>
              <a:srgbClr val="0D8C5E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6215062" y="1928812"/>
              <a:ext cx="333375" cy="119062"/>
            </a:xfrm>
            <a:custGeom>
              <a:avLst/>
              <a:gdLst/>
              <a:ahLst/>
              <a:cxnLst/>
              <a:rect l="l" t="t" r="r" b="b"/>
              <a:pathLst>
                <a:path w="333375" h="119062">
                  <a:moveTo>
                    <a:pt x="0" y="47625"/>
                  </a:moveTo>
                  <a:lnTo>
                    <a:pt x="166688" y="119062"/>
                  </a:lnTo>
                  <a:lnTo>
                    <a:pt x="333375" y="47625"/>
                  </a:lnTo>
                  <a:lnTo>
                    <a:pt x="333375" y="0"/>
                  </a:lnTo>
                  <a:lnTo>
                    <a:pt x="166688" y="71438"/>
                  </a:lnTo>
                  <a:lnTo>
                    <a:pt x="0" y="0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0D8C5E"/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7942088" y="2224564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家具离墙</a:t>
            </a:r>
            <a:endParaRPr lang="zh-CN" sz="1275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942147" y="2504599"/>
            <a:ext cx="7463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离墙 5-10cm</a:t>
            </a:r>
            <a:endParaRPr lang="zh-CN" sz="975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912894" y="271414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留出通风间隙</a:t>
            </a:r>
            <a:endParaRPr lang="zh-CN" sz="975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847886" y="292369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一楼优选玻化砖</a:t>
            </a:r>
            <a:endParaRPr lang="zh-CN" sz="975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Rectangle 29"/>
          <p:cNvSpPr/>
          <p:nvPr/>
        </p:nvSpPr>
        <p:spPr>
          <a:xfrm>
            <a:off x="571500" y="3571875"/>
            <a:ext cx="11049000" cy="2952750"/>
          </a:xfrm>
          <a:prstGeom prst="roundRect">
            <a:avLst>
              <a:gd name="adj" fmla="val 3871"/>
            </a:avLst>
          </a:prstGeom>
          <a:solidFill>
            <a:srgbClr val="F0F4F8"/>
          </a:solidFill>
          <a:ln w="9525">
            <a:solidFill>
              <a:srgbClr val="D0D8E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5116080" y="3724275"/>
            <a:ext cx="19598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常见错误 &amp; 正确做法</a:t>
            </a:r>
            <a:endParaRPr lang="zh-CN" sz="1500" b="1" dirty="0">
              <a:solidFill>
                <a:srgbClr val="E8612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857250" y="4095750"/>
            <a:ext cx="51435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33462" y="4145756"/>
            <a:ext cx="115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✕</a:t>
            </a:r>
            <a:endParaRPr lang="zh-CN" sz="1125" b="1" dirty="0">
              <a:solidFill>
                <a:srgbClr val="E8612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243965" y="4153852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返潮墙面直接刷漆覆盖</a:t>
            </a:r>
            <a:endParaRPr lang="zh-CN" sz="105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4082415" y="4153852"/>
            <a:ext cx="15703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D8C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铲除→杀菌→防水→再刷</a:t>
            </a:r>
            <a:endParaRPr lang="zh-CN" sz="1050" b="1" dirty="0">
              <a:solidFill>
                <a:srgbClr val="0D8C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Rectangle 35"/>
          <p:cNvSpPr/>
          <p:nvPr/>
        </p:nvSpPr>
        <p:spPr>
          <a:xfrm>
            <a:off x="6286500" y="4095750"/>
            <a:ext cx="51435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462712" y="4145756"/>
            <a:ext cx="115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✕</a:t>
            </a:r>
            <a:endParaRPr lang="zh-CN" sz="1125" b="1" dirty="0">
              <a:solidFill>
                <a:srgbClr val="E8612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673215" y="4153852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用普通石膏基腻子</a:t>
            </a:r>
            <a:endParaRPr lang="zh-CN" sz="105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9511665" y="4153852"/>
            <a:ext cx="17026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D8C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必须N型水泥基耐水腻子</a:t>
            </a:r>
            <a:endParaRPr lang="zh-CN" sz="1050" b="1" dirty="0">
              <a:solidFill>
                <a:srgbClr val="0D8C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Rectangle 39"/>
          <p:cNvSpPr/>
          <p:nvPr/>
        </p:nvSpPr>
        <p:spPr>
          <a:xfrm>
            <a:off x="857250" y="4591050"/>
            <a:ext cx="51435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033462" y="4641056"/>
            <a:ext cx="115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✕</a:t>
            </a:r>
            <a:endParaRPr lang="zh-CN" sz="1125" b="1" dirty="0">
              <a:solidFill>
                <a:srgbClr val="E8612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243965" y="4649152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只刷表面防水涂料</a:t>
            </a:r>
            <a:endParaRPr lang="zh-CN" sz="105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4082415" y="4649152"/>
            <a:ext cx="17688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D8C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必须先做渗透型防水处理</a:t>
            </a:r>
            <a:endParaRPr lang="zh-CN" sz="1050" b="1" dirty="0">
              <a:solidFill>
                <a:srgbClr val="0D8C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Rectangle 43"/>
          <p:cNvSpPr/>
          <p:nvPr/>
        </p:nvSpPr>
        <p:spPr>
          <a:xfrm>
            <a:off x="6286500" y="4591050"/>
            <a:ext cx="51435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462712" y="4641056"/>
            <a:ext cx="115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✕</a:t>
            </a:r>
            <a:endParaRPr lang="zh-CN" sz="1125" b="1" dirty="0">
              <a:solidFill>
                <a:srgbClr val="E8612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6673215" y="4649152"/>
            <a:ext cx="15038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回南天/阴雨天开窗通风</a:t>
            </a:r>
            <a:endParaRPr lang="zh-CN" sz="105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511665" y="4649152"/>
            <a:ext cx="14968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D8C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紧闭门窗 + 开除湿机</a:t>
            </a:r>
            <a:endParaRPr lang="zh-CN" sz="1050" b="1" dirty="0">
              <a:solidFill>
                <a:srgbClr val="0D8C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Rectangle 47"/>
          <p:cNvSpPr/>
          <p:nvPr/>
        </p:nvSpPr>
        <p:spPr>
          <a:xfrm>
            <a:off x="857250" y="5086350"/>
            <a:ext cx="51435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033462" y="5136356"/>
            <a:ext cx="115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✕</a:t>
            </a:r>
            <a:endParaRPr lang="zh-CN" sz="1125" b="1" dirty="0">
              <a:solidFill>
                <a:srgbClr val="E8612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243965" y="5144452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不处理外墙只做内墙</a:t>
            </a:r>
            <a:endParaRPr lang="zh-CN" sz="105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4082415" y="5144452"/>
            <a:ext cx="14968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D8C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外墙优先 → 内墙配合</a:t>
            </a:r>
            <a:endParaRPr lang="zh-CN" sz="1050" b="1" dirty="0">
              <a:solidFill>
                <a:srgbClr val="0D8C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Rectangle 51"/>
          <p:cNvSpPr/>
          <p:nvPr/>
        </p:nvSpPr>
        <p:spPr>
          <a:xfrm>
            <a:off x="6286500" y="5086350"/>
            <a:ext cx="51435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462712" y="5136356"/>
            <a:ext cx="115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8612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✕</a:t>
            </a:r>
            <a:endParaRPr lang="zh-CN" sz="1125" b="1" dirty="0">
              <a:solidFill>
                <a:srgbClr val="E8612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6673215" y="5144452"/>
            <a:ext cx="22809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相信"纳米防水喷雾"能解决结构渗水</a:t>
            </a:r>
            <a:endParaRPr lang="zh-CN" sz="105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9511665" y="5144452"/>
            <a:ext cx="13277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D8C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✓ 系统工程才能治本</a:t>
            </a:r>
            <a:endParaRPr lang="zh-CN" sz="1050" b="1" dirty="0">
              <a:solidFill>
                <a:srgbClr val="0D8C5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5" name="Rectangle 55"/>
          <p:cNvSpPr/>
          <p:nvPr/>
        </p:nvSpPr>
        <p:spPr>
          <a:xfrm>
            <a:off x="857250" y="5619750"/>
            <a:ext cx="10477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4762">
            <a:solidFill>
              <a:srgbClr val="D0D8E0"/>
            </a:solidFill>
          </a:ln>
        </p:spPr>
      </p:sp>
      <p:sp>
        <p:nvSpPr>
          <p:cNvPr id="56" name="Freeform 56"/>
          <p:cNvSpPr/>
          <p:nvPr/>
        </p:nvSpPr>
        <p:spPr>
          <a:xfrm>
            <a:off x="1095375" y="5886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114300"/>
                </a:moveTo>
                <a:cubicBezTo>
                  <a:pt x="228600" y="177426"/>
                  <a:pt x="177426" y="228600"/>
                  <a:pt x="114300" y="228600"/>
                </a:cubicBezTo>
                <a:cubicBezTo>
                  <a:pt x="51174" y="228600"/>
                  <a:pt x="0" y="177426"/>
                  <a:pt x="0" y="114300"/>
                </a:cubicBezTo>
                <a:cubicBezTo>
                  <a:pt x="0" y="51174"/>
                  <a:pt x="51174" y="0"/>
                  <a:pt x="114300" y="0"/>
                </a:cubicBezTo>
                <a:cubicBezTo>
                  <a:pt x="177426" y="0"/>
                  <a:pt x="228600" y="51174"/>
                  <a:pt x="228600" y="114300"/>
                </a:cubicBezTo>
                <a:close/>
                <a:moveTo>
                  <a:pt x="100012" y="114300"/>
                </a:moveTo>
                <a:lnTo>
                  <a:pt x="85725" y="114300"/>
                </a:lnTo>
                <a:lnTo>
                  <a:pt x="85725" y="85725"/>
                </a:lnTo>
                <a:lnTo>
                  <a:pt x="128588" y="85725"/>
                </a:lnTo>
                <a:lnTo>
                  <a:pt x="128588" y="157162"/>
                </a:lnTo>
                <a:lnTo>
                  <a:pt x="142875" y="157162"/>
                </a:lnTo>
                <a:lnTo>
                  <a:pt x="142875" y="185738"/>
                </a:lnTo>
                <a:lnTo>
                  <a:pt x="100012" y="185738"/>
                </a:lnTo>
                <a:lnTo>
                  <a:pt x="100012" y="114300"/>
                </a:lnTo>
                <a:close/>
                <a:moveTo>
                  <a:pt x="128588" y="71438"/>
                </a:moveTo>
                <a:lnTo>
                  <a:pt x="128588" y="42862"/>
                </a:lnTo>
                <a:lnTo>
                  <a:pt x="100012" y="42862"/>
                </a:lnTo>
                <a:lnTo>
                  <a:pt x="100012" y="71438"/>
                </a:lnTo>
                <a:lnTo>
                  <a:pt x="128588" y="71438"/>
                </a:lnTo>
                <a:close/>
              </a:path>
            </a:pathLst>
          </a:custGeom>
          <a:solidFill>
            <a:srgbClr val="0891B2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1414462" y="5755481"/>
            <a:ext cx="1446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一楼地面材料推荐：</a:t>
            </a:r>
            <a:endParaRPr lang="zh-CN" sz="1125" b="1" dirty="0">
              <a:solidFill>
                <a:srgbClr val="1A1A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415415" y="5982652"/>
            <a:ext cx="75176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首选玻化砖/通体砖（吸水率极低） / SPC石塑地板（防水防潮，脚感优于瓷砖） / 不推荐实木地板（极易吸潮变形发霉）</a:t>
            </a:r>
            <a:endParaRPr lang="zh-CN" sz="1050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11329487" y="6530816"/>
            <a:ext cx="3014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5B6E7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 / 10</a:t>
            </a:r>
            <a:endParaRPr lang="zh-CN" sz="825" dirty="0">
              <a:solidFill>
                <a:srgbClr val="5B6E7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F8B"/>
              </a:gs>
              <a:gs pos="100000">
                <a:srgbClr val="07355E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891B2">
                  <a:alpha val="15000"/>
                </a:srgbClr>
              </a:gs>
              <a:gs pos="100000">
                <a:srgbClr val="07355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0" y="2857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0891B2">
                <a:alpha val="12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4762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0891B2">
                <a:alpha val="8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3716107" y="1390650"/>
            <a:ext cx="475978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一楼防潮防水 · 核心要点</a:t>
            </a:r>
            <a:endParaRPr lang="zh-CN" sz="30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334000" y="1924050"/>
            <a:ext cx="1524000" cy="38100"/>
          </a:xfrm>
          <a:prstGeom prst="roundRect">
            <a:avLst>
              <a:gd name="adj" fmla="val 50000"/>
            </a:avLst>
          </a:prstGeom>
          <a:solidFill>
            <a:srgbClr val="E8612C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3363206" y="2488882"/>
            <a:ext cx="5465588" cy="335280"/>
            <a:chOff x="3363206" y="2488882"/>
            <a:chExt cx="5465588" cy="335280"/>
          </a:xfrm>
        </p:grpSpPr>
        <p:sp>
          <p:nvSpPr>
            <p:cNvPr id="8" name="Ellipse 8"/>
            <p:cNvSpPr/>
            <p:nvPr/>
          </p:nvSpPr>
          <p:spPr>
            <a:xfrm>
              <a:off x="6057900" y="2628900"/>
              <a:ext cx="76200" cy="76200"/>
            </a:xfrm>
            <a:prstGeom prst="ellipse">
              <a:avLst/>
            </a:prstGeom>
            <a:solidFill>
              <a:srgbClr val="E8612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363206" y="2488882"/>
              <a:ext cx="54655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诊断先行：搞清楚潮湿类型再动手，90%的人搞错了根源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434715" y="3060382"/>
            <a:ext cx="5322570" cy="335280"/>
            <a:chOff x="3434715" y="3060382"/>
            <a:chExt cx="5322570" cy="335280"/>
          </a:xfrm>
        </p:grpSpPr>
        <p:sp>
          <p:nvSpPr>
            <p:cNvPr id="11" name="Ellipse 11"/>
            <p:cNvSpPr/>
            <p:nvPr/>
          </p:nvSpPr>
          <p:spPr>
            <a:xfrm>
              <a:off x="6057900" y="3200400"/>
              <a:ext cx="76200" cy="76200"/>
            </a:xfrm>
            <a:prstGeom prst="ellipse">
              <a:avLst/>
            </a:prstGeom>
            <a:solidFill>
              <a:srgbClr val="0891B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34715" y="3060382"/>
              <a:ext cx="53225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先外后内：外墙防水优先阻断水源，内墙跟进巩固防线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264194" y="3631882"/>
            <a:ext cx="5663613" cy="335280"/>
            <a:chOff x="3264194" y="3631882"/>
            <a:chExt cx="5663613" cy="335280"/>
          </a:xfrm>
        </p:grpSpPr>
        <p:sp>
          <p:nvSpPr>
            <p:cNvPr id="14" name="Ellipse 14"/>
            <p:cNvSpPr/>
            <p:nvPr/>
          </p:nvSpPr>
          <p:spPr>
            <a:xfrm>
              <a:off x="6057900" y="3771900"/>
              <a:ext cx="76200" cy="76200"/>
            </a:xfrm>
            <a:prstGeom prst="ellipse">
              <a:avLst/>
            </a:prstGeom>
            <a:solidFill>
              <a:srgbClr val="E8612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264194" y="3631882"/>
              <a:ext cx="56636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材料关键：N型耐水腻子是底线，渗透结晶防水涂料是核心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071670" y="4203382"/>
            <a:ext cx="6048661" cy="335280"/>
            <a:chOff x="3071670" y="4203382"/>
            <a:chExt cx="6048661" cy="335280"/>
          </a:xfrm>
        </p:grpSpPr>
        <p:sp>
          <p:nvSpPr>
            <p:cNvPr id="17" name="Ellipse 17"/>
            <p:cNvSpPr/>
            <p:nvPr/>
          </p:nvSpPr>
          <p:spPr>
            <a:xfrm>
              <a:off x="6057900" y="4343400"/>
              <a:ext cx="76200" cy="76200"/>
            </a:xfrm>
            <a:prstGeom prst="ellipse">
              <a:avLst/>
            </a:prstGeom>
            <a:solidFill>
              <a:srgbClr val="0891B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71670" y="4203382"/>
              <a:ext cx="60486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习惯辅助：除湿机 + 正确通风 + 家具离墙，日常维护同样重要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0" name="Rectangle 20"/>
          <p:cNvSpPr/>
          <p:nvPr/>
        </p:nvSpPr>
        <p:spPr>
          <a:xfrm>
            <a:off x="1809750" y="4953000"/>
            <a:ext cx="8572500" cy="666750"/>
          </a:xfrm>
          <a:prstGeom prst="roundRect">
            <a:avLst>
              <a:gd name="adj" fmla="val 1714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480560" y="5156835"/>
            <a:ext cx="32308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>
                    <a:alphaMod val="8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好的防水是系统工程，不是一瓶涂料能解决的</a:t>
            </a:r>
            <a:endParaRPr lang="zh-CN" sz="1200" dirty="0">
              <a:solidFill>
                <a:srgbClr val="FFFFFF">
                  <a:alphaMod val="8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880610" y="5375910"/>
            <a:ext cx="2430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>
                    <a:alphaMod val="6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祝施工顺利！墙面干爽，家更舒适</a:t>
            </a:r>
            <a:endParaRPr lang="zh-CN" sz="1200" dirty="0">
              <a:solidFill>
                <a:srgbClr val="FFFFFF">
                  <a:alphaMod val="6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902690" y="6165056"/>
            <a:ext cx="438662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>
                    <a:alphaMod val="4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一楼墙面防潮防水综合治理方案 · 2026年7月 · 家庭装修实用指南</a:t>
            </a:r>
            <a:endParaRPr lang="zh-CN" sz="1125" dirty="0">
              <a:solidFill>
                <a:srgbClr val="FFFFFF">
                  <a:alphaMod val="45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928753" y="6530816"/>
            <a:ext cx="3344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3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 / 10</a:t>
            </a:r>
            <a:endParaRPr lang="zh-CN" sz="825" dirty="0">
              <a:solidFill>
                <a:srgbClr val="FFFFFF">
                  <a:alphaMod val="3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3877</Words>
  <Application>WPS 演示</Application>
  <PresentationFormat>On-screen Show (4:3)</PresentationFormat>
  <Paragraphs>634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Georgia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洪波</cp:lastModifiedBy>
  <cp:revision>2</cp:revision>
  <dcterms:created xsi:type="dcterms:W3CDTF">2013-01-27T09:14:00Z</dcterms:created>
  <dcterms:modified xsi:type="dcterms:W3CDTF">2026-07-03T09:56:32Z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CDA93D09C21445EDAB7C2E22D46F8EA7_12</vt:lpwstr>
  </property>
</Properties>
</file>